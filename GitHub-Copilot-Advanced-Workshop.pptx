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6591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7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rgbClr val="5E566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rgbClr val="5E566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ithub.com/en/copilot/reference/customization-cheat-sheet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ithub.com/en/copilot/concepts/context/mcp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ithub.com/en/copilot/reference/copilot-cli-reference/cli-command-reference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ithub.com/en/copilot/concepts/agents/github-copilot-app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ithub.com/en/copilot/reference/ai-models/supported-models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ithub.com/en/copilot/concepts/agents/cloud-agent/about-cloud-agent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56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19456" y="0"/>
            <a:ext cx="64008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7665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50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COPILOT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Advanced</a:t>
            </a:r>
            <a:endParaRPr lang="en-US" sz="4900" dirty="0"/>
          </a:p>
          <a:p>
            <a:pPr marL="0" indent="0">
              <a:buNone/>
            </a:pPr>
            <a:r>
              <a:rPr lang="en-US" sz="4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Workshop</a:t>
            </a:r>
            <a:endParaRPr lang="en-US" sz="4900" dirty="0"/>
          </a:p>
        </p:txBody>
      </p:sp>
      <p:sp>
        <p:nvSpPr>
          <p:cNvPr id="6" name="Text 4"/>
          <p:cNvSpPr/>
          <p:nvPr/>
        </p:nvSpPr>
        <p:spPr>
          <a:xfrm>
            <a:off x="685800" y="2907792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0CA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Customization, agents, MCP, CLI, desktop app, testing, and cloud workflows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85800" y="3803904"/>
            <a:ext cx="1234440" cy="347472"/>
          </a:xfrm>
          <a:prstGeom prst="roundRect">
            <a:avLst>
              <a:gd name="adj" fmla="val 31579"/>
            </a:avLst>
          </a:prstGeom>
          <a:solidFill>
            <a:srgbClr val="24143A"/>
          </a:solidFill>
          <a:ln w="12700">
            <a:solidFill>
              <a:srgbClr val="7C3AED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80390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modules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57400" y="3803904"/>
            <a:ext cx="1234440" cy="347472"/>
          </a:xfrm>
          <a:prstGeom prst="roundRect">
            <a:avLst>
              <a:gd name="adj" fmla="val 31579"/>
            </a:avLst>
          </a:prstGeom>
          <a:solidFill>
            <a:srgbClr val="153D3A"/>
          </a:solidFill>
          <a:ln w="12700">
            <a:solidFill>
              <a:srgbClr val="14B8A6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57400" y="380390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Hands-on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29000" y="3803904"/>
            <a:ext cx="1234440" cy="347472"/>
          </a:xfrm>
          <a:prstGeom prst="roundRect">
            <a:avLst>
              <a:gd name="adj" fmla="val 31579"/>
            </a:avLst>
          </a:prstGeom>
          <a:solidFill>
            <a:srgbClr val="46212A"/>
          </a:solidFill>
          <a:ln w="12700">
            <a:solidFill>
              <a:srgbClr val="F43F5E">
                <a:alpha val="6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380390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3F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July 2026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583680" y="731520"/>
            <a:ext cx="1874520" cy="1874520"/>
          </a:xfrm>
          <a:prstGeom prst="ellipse">
            <a:avLst/>
          </a:prstGeom>
          <a:solidFill>
            <a:srgbClr val="24143A"/>
          </a:solidFill>
          <a:ln w="19050">
            <a:solidFill>
              <a:srgbClr val="6545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77456" y="1225296"/>
            <a:ext cx="896112" cy="89611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0" y="841248"/>
            <a:ext cx="347472" cy="34747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20256" y="2084832"/>
            <a:ext cx="274320" cy="27432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68312" y="14813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55080" y="28346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24928" y="31546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54112" y="36758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3F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" y="477316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D0CA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Copilot Advanced Workshop  |  July 2026</a:t>
            </a:r>
            <a:endParaRPr lang="en-US" sz="9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256032"/>
            <a:ext cx="530352" cy="384048"/>
          </a:xfrm>
          <a:prstGeom prst="roundRect">
            <a:avLst>
              <a:gd name="adj" fmla="val 1904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10896" y="256032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87552" y="201168"/>
            <a:ext cx="6812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Workshop map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05840" y="65836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progression from customization to cloud delivery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936992" y="164592"/>
            <a:ext cx="749808" cy="749808"/>
          </a:xfrm>
          <a:prstGeom prst="ellipse">
            <a:avLst/>
          </a:prstGeom>
          <a:solidFill>
            <a:srgbClr val="EDE9FE">
              <a:alpha val="30000"/>
            </a:srgbClr>
          </a:solidFill>
          <a:ln w="17780">
            <a:solidFill>
              <a:srgbClr val="D8CFF0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39328" y="475488"/>
            <a:ext cx="201168" cy="2011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91856" y="228600"/>
            <a:ext cx="109728" cy="109728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477316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Copilot Advanced Workshop  |  July 2026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411480" y="1078992"/>
            <a:ext cx="39776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7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170432"/>
            <a:ext cx="512064" cy="365760"/>
          </a:xfrm>
          <a:prstGeom prst="round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170432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61288" y="119786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Customization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11480" y="1773936"/>
            <a:ext cx="39776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7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1865376"/>
            <a:ext cx="512064" cy="365760"/>
          </a:xfrm>
          <a:prstGeom prst="roundRect">
            <a:avLst>
              <a:gd name="adj" fmla="val 12500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1865376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61288" y="189280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 workflows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11480" y="2468880"/>
            <a:ext cx="39776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7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2560320"/>
            <a:ext cx="512064" cy="365760"/>
          </a:xfrm>
          <a:prstGeom prst="roundRect">
            <a:avLst>
              <a:gd name="adj" fmla="val 125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560320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61288" y="258775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MCP servers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11480" y="3163824"/>
            <a:ext cx="39776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7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3255264"/>
            <a:ext cx="512064" cy="365760"/>
          </a:xfrm>
          <a:prstGeom prst="roundRect">
            <a:avLst>
              <a:gd name="adj" fmla="val 12500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255264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61288" y="328269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Copilot CLI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11480" y="3858768"/>
            <a:ext cx="39776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7E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3950208"/>
            <a:ext cx="512064" cy="365760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950208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61288" y="397764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Modernization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709160" y="1078992"/>
            <a:ext cx="39776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7E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00600" y="1170432"/>
            <a:ext cx="512064" cy="365760"/>
          </a:xfrm>
          <a:prstGeom prst="roundRect">
            <a:avLst>
              <a:gd name="adj" fmla="val 12500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1170432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58968" y="119786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QA and testing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709160" y="1773936"/>
            <a:ext cx="39776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7E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00600" y="1865376"/>
            <a:ext cx="512064" cy="365760"/>
          </a:xfrm>
          <a:prstGeom prst="round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1865376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58968" y="189280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Copilot app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709160" y="2468880"/>
            <a:ext cx="39776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7E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00600" y="2560320"/>
            <a:ext cx="512064" cy="365760"/>
          </a:xfrm>
          <a:prstGeom prst="roundRect">
            <a:avLst>
              <a:gd name="adj" fmla="val 125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2560320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458968" y="258775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Models and context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4709160" y="3163824"/>
            <a:ext cx="39776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7E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00600" y="3255264"/>
            <a:ext cx="512064" cy="365760"/>
          </a:xfrm>
          <a:prstGeom prst="roundRect">
            <a:avLst>
              <a:gd name="adj" fmla="val 12500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00600" y="3255264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458968" y="328269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Cloud Agent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4709160" y="3858768"/>
            <a:ext cx="39776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7E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800600" y="3950208"/>
            <a:ext cx="512064" cy="365760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00600" y="3950208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458968" y="397764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Hands-on lab</a:t>
            </a:r>
            <a:endParaRPr lang="en-US" sz="1400" dirty="0"/>
          </a:p>
        </p:txBody>
      </p:sp>
      <p:sp>
        <p:nvSpPr>
          <p:cNvPr id="5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rgbClr val="5E566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256032"/>
            <a:ext cx="530352" cy="384048"/>
          </a:xfrm>
          <a:prstGeom prst="roundRect">
            <a:avLst>
              <a:gd name="adj" fmla="val 1904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10896" y="256032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87552" y="201168"/>
            <a:ext cx="6812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Pick the right Copilot surface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05840" y="65836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the execution environment, then choose the agent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936992" y="164592"/>
            <a:ext cx="749808" cy="749808"/>
          </a:xfrm>
          <a:prstGeom prst="ellipse">
            <a:avLst/>
          </a:prstGeom>
          <a:solidFill>
            <a:srgbClr val="EDE9FE">
              <a:alpha val="30000"/>
            </a:srgbClr>
          </a:solidFill>
          <a:ln w="17780">
            <a:solidFill>
              <a:srgbClr val="D8CFF0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39328" y="475488"/>
            <a:ext cx="201168" cy="2011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91856" y="228600"/>
            <a:ext cx="109728" cy="109728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477316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Copilot Advanced Workshop  |  July 2026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411480" y="1078992"/>
            <a:ext cx="2606040" cy="1993392"/>
          </a:xfrm>
          <a:prstGeom prst="roundRect">
            <a:avLst>
              <a:gd name="adj" fmla="val 3670"/>
            </a:avLst>
          </a:prstGeom>
          <a:solidFill>
            <a:srgbClr val="CCFBF1"/>
          </a:solidFill>
          <a:ln w="12700">
            <a:solidFill>
              <a:srgbClr val="DDD7E6"/>
            </a:solidFill>
            <a:prstDash val="solid"/>
          </a:ln>
          <a:effectLst>
            <a:outerShdw blurRad="25400" dist="12700" dir="2700000" algn="bl" rotWithShape="0">
              <a:srgbClr val="6D5D8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76072" y="1234440"/>
            <a:ext cx="109728" cy="1682496"/>
          </a:xfrm>
          <a:prstGeom prst="roundRect">
            <a:avLst>
              <a:gd name="adj" fmla="val 33333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1225296"/>
            <a:ext cx="2075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 agent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95528" y="1600200"/>
            <a:ext cx="2075688" cy="1335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files and terminal.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for guided coding, tight edit-review loops, and immediate debugging.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3273552" y="1078992"/>
            <a:ext cx="2606040" cy="1993392"/>
          </a:xfrm>
          <a:prstGeom prst="roundRect">
            <a:avLst>
              <a:gd name="adj" fmla="val 3670"/>
            </a:avLst>
          </a:prstGeom>
          <a:solidFill>
            <a:srgbClr val="EDE9FE"/>
          </a:solidFill>
          <a:ln w="12700">
            <a:solidFill>
              <a:srgbClr val="DDD7E6"/>
            </a:solidFill>
            <a:prstDash val="solid"/>
          </a:ln>
          <a:effectLst>
            <a:outerShdw blurRad="25400" dist="12700" dir="2700000" algn="bl" rotWithShape="0">
              <a:srgbClr val="6D5D8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38144" y="1234440"/>
            <a:ext cx="109728" cy="1682496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1225296"/>
            <a:ext cx="2075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Copilot CLI or app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0" y="1600200"/>
            <a:ext cx="2075688" cy="1335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agent engine with terminal or visual workspace.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for longer sessions, subagents, worktrees, and richer orchestration.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6126480" y="1078992"/>
            <a:ext cx="2606040" cy="1993392"/>
          </a:xfrm>
          <a:prstGeom prst="roundRect">
            <a:avLst>
              <a:gd name="adj" fmla="val 3670"/>
            </a:avLst>
          </a:prstGeom>
          <a:solidFill>
            <a:srgbClr val="FFE4E6"/>
          </a:solidFill>
          <a:ln w="12700">
            <a:solidFill>
              <a:srgbClr val="DDD7E6"/>
            </a:solidFill>
            <a:prstDash val="solid"/>
          </a:ln>
          <a:effectLst>
            <a:outerShdw blurRad="25400" dist="12700" dir="2700000" algn="bl" rotWithShape="0">
              <a:srgbClr val="6D5D8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91072" y="1234440"/>
            <a:ext cx="109728" cy="1682496"/>
          </a:xfrm>
          <a:prstGeom prst="roundRect">
            <a:avLst>
              <a:gd name="adj" fmla="val 33333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10528" y="1225296"/>
            <a:ext cx="2075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Cloud Agent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10528" y="1600200"/>
            <a:ext cx="2075688" cy="1335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GitHub-hosted asynchronous work.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for branch-first research, issue-to-PR delivery, and remote steering.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914400" y="3456432"/>
            <a:ext cx="16230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DDD7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7552" y="3547872"/>
            <a:ext cx="1476756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Clarify outcome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537460" y="3675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&gt;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811780" y="3456432"/>
            <a:ext cx="1623060" cy="749808"/>
          </a:xfrm>
          <a:prstGeom prst="roundRect">
            <a:avLst>
              <a:gd name="adj" fmla="val 9756"/>
            </a:avLst>
          </a:prstGeom>
          <a:solidFill>
            <a:srgbClr val="EDE9FE"/>
          </a:solidFill>
          <a:ln w="13970">
            <a:solidFill>
              <a:srgbClr val="DDD7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84932" y="3547872"/>
            <a:ext cx="1476756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surface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434840" y="3675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&gt;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09160" y="3456432"/>
            <a:ext cx="16230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DDD7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82312" y="3547872"/>
            <a:ext cx="1476756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autonomy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332220" y="3675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&gt;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606540" y="3456432"/>
            <a:ext cx="1623060" cy="749808"/>
          </a:xfrm>
          <a:prstGeom prst="roundRect">
            <a:avLst>
              <a:gd name="adj" fmla="val 9756"/>
            </a:avLst>
          </a:prstGeom>
          <a:solidFill>
            <a:srgbClr val="EDE9FE"/>
          </a:solidFill>
          <a:ln w="13970">
            <a:solidFill>
              <a:srgbClr val="14B8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79692" y="3547872"/>
            <a:ext cx="1476756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and review</a:t>
            </a:r>
            <a:endParaRPr lang="en-US" sz="105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rgbClr val="5E566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594360"/>
            <a:ext cx="1554480" cy="1554480"/>
          </a:xfrm>
          <a:prstGeom prst="ellipse">
            <a:avLst/>
          </a:prstGeom>
          <a:solidFill>
            <a:srgbClr val="24143A"/>
          </a:solidFill>
          <a:ln w="17780">
            <a:solidFill>
              <a:srgbClr val="5137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658368"/>
            <a:ext cx="402336" cy="40233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56832" y="2011680"/>
            <a:ext cx="228600" cy="22860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0" y="59436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7C3A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58368" y="1417320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Customization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685800" y="260604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dirty="0">
                <a:solidFill>
                  <a:srgbClr val="D0CA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Instructions, prompt files, custom agents, skills, hooks, and plugins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685800" y="3858768"/>
            <a:ext cx="2788920" cy="475488"/>
          </a:xfrm>
          <a:prstGeom prst="roundRect">
            <a:avLst>
              <a:gd name="adj" fmla="val 15385"/>
            </a:avLst>
          </a:prstGeom>
          <a:solidFill>
            <a:srgbClr val="24143A"/>
          </a:solidFill>
          <a:ln w="12700">
            <a:solidFill>
              <a:srgbClr val="5137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858768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Repository module 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" y="477316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D0CA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Copilot Advanced Workshop  |  July 2026</a:t>
            </a:r>
            <a:endParaRPr lang="en-US" sz="9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256032"/>
            <a:ext cx="530352" cy="384048"/>
          </a:xfrm>
          <a:prstGeom prst="roundRect">
            <a:avLst>
              <a:gd name="adj" fmla="val 1904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10896" y="256032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87552" y="201168"/>
            <a:ext cx="6812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Customization layers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05840" y="65836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narrowest mechanism that fits the job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936992" y="164592"/>
            <a:ext cx="749808" cy="749808"/>
          </a:xfrm>
          <a:prstGeom prst="ellipse">
            <a:avLst/>
          </a:prstGeom>
          <a:solidFill>
            <a:srgbClr val="EDE9FE">
              <a:alpha val="30000"/>
            </a:srgbClr>
          </a:solidFill>
          <a:ln w="17780">
            <a:solidFill>
              <a:srgbClr val="D8CFF0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39328" y="475488"/>
            <a:ext cx="201168" cy="2011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91856" y="228600"/>
            <a:ext cx="109728" cy="109728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477316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Copilot Advanced Workshop  |  July 2026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411480" y="1005840"/>
            <a:ext cx="83210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DD7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111556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Instructions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029968" y="111556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Stable behavior and repository facts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577840" y="111556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56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.github/copilot-instructions.md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1719072"/>
            <a:ext cx="8321040" cy="566928"/>
          </a:xfrm>
          <a:prstGeom prst="roundRect">
            <a:avLst>
              <a:gd name="adj" fmla="val 9677"/>
            </a:avLst>
          </a:prstGeom>
          <a:solidFill>
            <a:srgbClr val="F1EDF7"/>
          </a:solidFill>
          <a:ln w="12700">
            <a:solidFill>
              <a:srgbClr val="DDD7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18288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Prompt files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029968" y="18288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IDE workflow, manually invoked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57784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56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.github/prompts/*.prompt.md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2432304"/>
            <a:ext cx="83210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DD7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254203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Custom agents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029968" y="254203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Specialist persona and tool boundary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577840" y="254203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56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.github/agents/*.agent.md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" y="3145536"/>
            <a:ext cx="8321040" cy="566928"/>
          </a:xfrm>
          <a:prstGeom prst="roundRect">
            <a:avLst>
              <a:gd name="adj" fmla="val 9677"/>
            </a:avLst>
          </a:prstGeom>
          <a:solidFill>
            <a:srgbClr val="F1EDF7"/>
          </a:solidFill>
          <a:ln w="12700">
            <a:solidFill>
              <a:srgbClr val="DDD7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325526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Skills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029968" y="325526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Task-specific instructions, scripts, resources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77840" y="3255264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56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.github/skills/&lt;name&gt;/SKILL.md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" y="3858768"/>
            <a:ext cx="83210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DD7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" y="396849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Hooks and plugins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029968" y="396849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controls and packaged extensions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577840" y="3968496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56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.github/hooks and marketplaces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06440" y="476402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30" u="sng" dirty="0">
                <a:solidFill>
                  <a:srgbClr val="7C3AED"/>
                </a:solidFill>
                <a:uFill>
                  <a:solidFill>
                    <a:srgbClr val="7C3AED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Customization cheat sheet</a:t>
            </a:r>
            <a:endParaRPr lang="en-US" sz="83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rgbClr val="5E566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256032"/>
            <a:ext cx="530352" cy="384048"/>
          </a:xfrm>
          <a:prstGeom prst="roundRect">
            <a:avLst>
              <a:gd name="adj" fmla="val 1904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10896" y="256032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87552" y="201168"/>
            <a:ext cx="6812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artifacts in this repository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05840" y="65836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Everything shown here is active workshop material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936992" y="164592"/>
            <a:ext cx="749808" cy="749808"/>
          </a:xfrm>
          <a:prstGeom prst="ellipse">
            <a:avLst/>
          </a:prstGeom>
          <a:solidFill>
            <a:srgbClr val="EDE9FE">
              <a:alpha val="30000"/>
            </a:srgbClr>
          </a:solidFill>
          <a:ln w="17780">
            <a:solidFill>
              <a:srgbClr val="D8CFF0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39328" y="475488"/>
            <a:ext cx="201168" cy="2011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91856" y="228600"/>
            <a:ext cx="109728" cy="109728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477316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Copilot Advanced Workshop  |  July 2026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411480" y="105156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DD7E6"/>
            </a:solidFill>
            <a:prstDash val="solid"/>
          </a:ln>
          <a:effectLst>
            <a:outerShdw blurRad="25400" dist="12700" dir="2700000" algn="bl" rotWithShape="0">
              <a:srgbClr val="6D5D8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76072" y="1207008"/>
            <a:ext cx="109728" cy="1014984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1197864"/>
            <a:ext cx="2075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Repository instructions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95528" y="1572768"/>
            <a:ext cx="2075688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C# and workshop conventions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Path-specific test rules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3273552" y="105156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DD7E6"/>
            </a:solidFill>
            <a:prstDash val="solid"/>
          </a:ln>
          <a:effectLst>
            <a:outerShdw blurRad="25400" dist="12700" dir="2700000" algn="bl" rotWithShape="0">
              <a:srgbClr val="6D5D8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38144" y="1207008"/>
            <a:ext cx="109728" cy="1014984"/>
          </a:xfrm>
          <a:prstGeom prst="roundRect">
            <a:avLst>
              <a:gd name="adj" fmla="val 33333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1197864"/>
            <a:ext cx="2075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Workshop reviewer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0" y="1572768"/>
            <a:ext cx="2075688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 agent checks accuracy, neutrality, links, and evidence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6126480" y="105156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DD7E6"/>
            </a:solidFill>
            <a:prstDash val="solid"/>
          </a:ln>
          <a:effectLst>
            <a:outerShdw blurRad="25400" dist="12700" dir="2700000" algn="bl" rotWithShape="0">
              <a:srgbClr val="6D5D8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91072" y="1207008"/>
            <a:ext cx="109728" cy="1014984"/>
          </a:xfrm>
          <a:prstGeom prst="roundRect">
            <a:avLst>
              <a:gd name="adj" fmla="val 33333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10528" y="1197864"/>
            <a:ext cx="2075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Presentation QA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10528" y="1572768"/>
            <a:ext cx="2075688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 defines text extraction, visual review, and fix-verify loop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411480" y="274320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rules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57200" y="3154680"/>
            <a:ext cx="818388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stable rules in instructions, not every prompt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files are IDE-oriented and preview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user-invocable and disable-model-invocation for current custom agents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 skills and plugins before enabling scripts or tools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rgbClr val="5E566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594360"/>
            <a:ext cx="1554480" cy="1554480"/>
          </a:xfrm>
          <a:prstGeom prst="ellipse">
            <a:avLst/>
          </a:prstGeom>
          <a:solidFill>
            <a:srgbClr val="24143A"/>
          </a:solidFill>
          <a:ln w="17780">
            <a:solidFill>
              <a:srgbClr val="5137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658368"/>
            <a:ext cx="402336" cy="40233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56832" y="2011680"/>
            <a:ext cx="228600" cy="22860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0" y="59436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4B8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58368" y="1417320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 workflows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685800" y="260604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dirty="0">
                <a:solidFill>
                  <a:srgbClr val="D0CA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Ask, Plan, Agent mode, custom agents, and isolated subagents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685800" y="3858768"/>
            <a:ext cx="2788920" cy="475488"/>
          </a:xfrm>
          <a:prstGeom prst="roundRect">
            <a:avLst>
              <a:gd name="adj" fmla="val 15385"/>
            </a:avLst>
          </a:prstGeom>
          <a:solidFill>
            <a:srgbClr val="24143A"/>
          </a:solidFill>
          <a:ln w="12700">
            <a:solidFill>
              <a:srgbClr val="5137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858768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Repository module 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" y="477316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D0CA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Copilot Advanced Workshop  |  July 2026</a:t>
            </a:r>
            <a:endParaRPr lang="en-US" sz="9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256032"/>
            <a:ext cx="530352" cy="384048"/>
          </a:xfrm>
          <a:prstGeom prst="roundRect">
            <a:avLst>
              <a:gd name="adj" fmla="val 1904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10896" y="256032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87552" y="201168"/>
            <a:ext cx="6812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local agent loop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05840" y="65836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Autonomy increases only after the task is clear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936992" y="164592"/>
            <a:ext cx="749808" cy="749808"/>
          </a:xfrm>
          <a:prstGeom prst="ellipse">
            <a:avLst/>
          </a:prstGeom>
          <a:solidFill>
            <a:srgbClr val="EDE9FE">
              <a:alpha val="30000"/>
            </a:srgbClr>
          </a:solidFill>
          <a:ln w="17780">
            <a:solidFill>
              <a:srgbClr val="D8CFF0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39328" y="475488"/>
            <a:ext cx="201168" cy="2011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91856" y="228600"/>
            <a:ext cx="109728" cy="109728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477316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Copilot Advanced Workshop  |  July 2026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502920" y="1234440"/>
            <a:ext cx="1408176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DDD7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1325880"/>
            <a:ext cx="126187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 and constraints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911096" y="14538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B8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&gt;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185416" y="1234440"/>
            <a:ext cx="1408176" cy="749808"/>
          </a:xfrm>
          <a:prstGeom prst="roundRect">
            <a:avLst>
              <a:gd name="adj" fmla="val 9756"/>
            </a:avLst>
          </a:prstGeom>
          <a:solidFill>
            <a:srgbClr val="EDE9FE"/>
          </a:solidFill>
          <a:ln w="13970">
            <a:solidFill>
              <a:srgbClr val="DDD7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58568" y="1325880"/>
            <a:ext cx="126187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context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593592" y="14538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B8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&gt;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867912" y="1234440"/>
            <a:ext cx="1408176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DDD7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41064" y="1325880"/>
            <a:ext cx="126187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276088" y="14538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B8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&gt;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550408" y="1234440"/>
            <a:ext cx="1408176" cy="749808"/>
          </a:xfrm>
          <a:prstGeom prst="roundRect">
            <a:avLst>
              <a:gd name="adj" fmla="val 9756"/>
            </a:avLst>
          </a:prstGeom>
          <a:solidFill>
            <a:srgbClr val="EDE9FE"/>
          </a:solidFill>
          <a:ln w="13970">
            <a:solidFill>
              <a:srgbClr val="DDD7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23560" y="1325880"/>
            <a:ext cx="126187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 with tools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958584" y="14538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B8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&gt;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232904" y="1234440"/>
            <a:ext cx="1408176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14B8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06056" y="1325880"/>
            <a:ext cx="126187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diff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2331720"/>
            <a:ext cx="2468880" cy="1325880"/>
          </a:xfrm>
          <a:prstGeom prst="roundRect">
            <a:avLst>
              <a:gd name="adj" fmla="val 5517"/>
            </a:avLst>
          </a:prstGeom>
          <a:solidFill>
            <a:srgbClr val="E0F2FE"/>
          </a:solidFill>
          <a:ln w="12700">
            <a:solidFill>
              <a:srgbClr val="DDD7E6"/>
            </a:solidFill>
            <a:prstDash val="solid"/>
          </a:ln>
          <a:effectLst>
            <a:outerShdw blurRad="25400" dist="12700" dir="2700000" algn="bl" rotWithShape="0">
              <a:srgbClr val="6D5D8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67512" y="2487168"/>
            <a:ext cx="109728" cy="1014984"/>
          </a:xfrm>
          <a:prstGeom prst="roundRect">
            <a:avLst>
              <a:gd name="adj" fmla="val 33333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6968" y="2478024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86968" y="2852928"/>
            <a:ext cx="1938528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Explain, compare, or investigate without changing files.</a:t>
            </a:r>
            <a:endParaRPr lang="en-US" sz="1120" dirty="0"/>
          </a:p>
        </p:txBody>
      </p:sp>
      <p:sp>
        <p:nvSpPr>
          <p:cNvPr id="28" name="Shape 26"/>
          <p:cNvSpPr/>
          <p:nvPr/>
        </p:nvSpPr>
        <p:spPr>
          <a:xfrm>
            <a:off x="3337560" y="2331720"/>
            <a:ext cx="2468880" cy="1325880"/>
          </a:xfrm>
          <a:prstGeom prst="roundRect">
            <a:avLst>
              <a:gd name="adj" fmla="val 5517"/>
            </a:avLst>
          </a:prstGeom>
          <a:solidFill>
            <a:srgbClr val="CCFBF1"/>
          </a:solidFill>
          <a:ln w="12700">
            <a:solidFill>
              <a:srgbClr val="DDD7E6"/>
            </a:solidFill>
            <a:prstDash val="solid"/>
          </a:ln>
          <a:effectLst>
            <a:outerShdw blurRad="25400" dist="12700" dir="2700000" algn="bl" rotWithShape="0">
              <a:srgbClr val="6D5D8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502152" y="2487168"/>
            <a:ext cx="109728" cy="1014984"/>
          </a:xfrm>
          <a:prstGeom prst="roundRect">
            <a:avLst>
              <a:gd name="adj" fmla="val 33333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21608" y="2478024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721608" y="2852928"/>
            <a:ext cx="1938528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Explore the approach, dependencies, and acceptance criteria before implementation.</a:t>
            </a:r>
            <a:endParaRPr lang="en-US" sz="1120" dirty="0"/>
          </a:p>
        </p:txBody>
      </p:sp>
      <p:sp>
        <p:nvSpPr>
          <p:cNvPr id="32" name="Shape 30"/>
          <p:cNvSpPr/>
          <p:nvPr/>
        </p:nvSpPr>
        <p:spPr>
          <a:xfrm>
            <a:off x="6172200" y="2331720"/>
            <a:ext cx="2468880" cy="1325880"/>
          </a:xfrm>
          <a:prstGeom prst="roundRect">
            <a:avLst>
              <a:gd name="adj" fmla="val 5517"/>
            </a:avLst>
          </a:prstGeom>
          <a:solidFill>
            <a:srgbClr val="EDE9FE"/>
          </a:solidFill>
          <a:ln w="12700">
            <a:solidFill>
              <a:srgbClr val="DDD7E6"/>
            </a:solidFill>
            <a:prstDash val="solid"/>
          </a:ln>
          <a:effectLst>
            <a:outerShdw blurRad="25400" dist="12700" dir="2700000" algn="bl" rotWithShape="0">
              <a:srgbClr val="6D5D8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336792" y="2487168"/>
            <a:ext cx="109728" cy="1014984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56248" y="2478024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556248" y="2852928"/>
            <a:ext cx="1938528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Search, change files, run commands, test, and iterate across the repository.</a:t>
            </a:r>
            <a:endParaRPr lang="en-US" sz="112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rgbClr val="5E566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256032"/>
            <a:ext cx="530352" cy="384048"/>
          </a:xfrm>
          <a:prstGeom prst="roundRect">
            <a:avLst>
              <a:gd name="adj" fmla="val 1904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10896" y="256032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87552" y="201168"/>
            <a:ext cx="6812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Custom agents and subagents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05840" y="65836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Repeatable specialist versus isolated execution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936992" y="164592"/>
            <a:ext cx="749808" cy="749808"/>
          </a:xfrm>
          <a:prstGeom prst="ellipse">
            <a:avLst/>
          </a:prstGeom>
          <a:solidFill>
            <a:srgbClr val="EDE9FE">
              <a:alpha val="30000"/>
            </a:srgbClr>
          </a:solidFill>
          <a:ln w="17780">
            <a:solidFill>
              <a:srgbClr val="D8CFF0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39328" y="475488"/>
            <a:ext cx="201168" cy="2011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91856" y="228600"/>
            <a:ext cx="109728" cy="109728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477316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Copilot Advanced Workshop  |  July 2026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502920" y="1097280"/>
            <a:ext cx="3886200" cy="1993392"/>
          </a:xfrm>
          <a:prstGeom prst="roundRect">
            <a:avLst>
              <a:gd name="adj" fmla="val 3670"/>
            </a:avLst>
          </a:prstGeom>
          <a:solidFill>
            <a:srgbClr val="EDE9FE"/>
          </a:solidFill>
          <a:ln w="12700">
            <a:solidFill>
              <a:srgbClr val="DDD7E6"/>
            </a:solidFill>
            <a:prstDash val="solid"/>
          </a:ln>
          <a:effectLst>
            <a:outerShdw blurRad="25400" dist="12700" dir="2700000" algn="bl" rotWithShape="0">
              <a:srgbClr val="6D5D8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7512" y="1252728"/>
            <a:ext cx="109728" cy="1682496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1243584"/>
            <a:ext cx="3355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Custom agent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86968" y="1618488"/>
            <a:ext cx="3355848" cy="1335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reusable definition with a role, instructions, model preferences, and tool boundaries.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for a recurring testing, review, migration, or documentation role.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4754880" y="1097280"/>
            <a:ext cx="3886200" cy="1993392"/>
          </a:xfrm>
          <a:prstGeom prst="roundRect">
            <a:avLst>
              <a:gd name="adj" fmla="val 3670"/>
            </a:avLst>
          </a:prstGeom>
          <a:solidFill>
            <a:srgbClr val="CCFBF1"/>
          </a:solidFill>
          <a:ln w="12700">
            <a:solidFill>
              <a:srgbClr val="DDD7E6"/>
            </a:solidFill>
            <a:prstDash val="solid"/>
          </a:ln>
          <a:effectLst>
            <a:outerShdw blurRad="25400" dist="12700" dir="2700000" algn="bl" rotWithShape="0">
              <a:srgbClr val="6D5D8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919472" y="1252728"/>
            <a:ext cx="109728" cy="1682496"/>
          </a:xfrm>
          <a:prstGeom prst="roundRect">
            <a:avLst>
              <a:gd name="adj" fmla="val 33333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38928" y="1243584"/>
            <a:ext cx="3355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Subagent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138928" y="1618488"/>
            <a:ext cx="3355848" cy="1335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temporary isolated execution with its own context window.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for independent research or review that should not crowd the main session.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1234440" y="3456432"/>
            <a:ext cx="6675120" cy="566928"/>
          </a:xfrm>
          <a:prstGeom prst="roundRect">
            <a:avLst>
              <a:gd name="adj" fmla="val 12903"/>
            </a:avLst>
          </a:prstGeom>
          <a:solidFill>
            <a:srgbClr val="FFE4E6"/>
          </a:solidFill>
          <a:ln w="12700">
            <a:solidFill>
              <a:srgbClr val="F43F5E">
                <a:alpha val="4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17320" y="3602736"/>
            <a:ext cx="6309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43F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send several agents to edit the same files. Parallel ownership must be independent.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rgbClr val="5E566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594360"/>
            <a:ext cx="1554480" cy="1554480"/>
          </a:xfrm>
          <a:prstGeom prst="ellipse">
            <a:avLst/>
          </a:prstGeom>
          <a:solidFill>
            <a:srgbClr val="24143A"/>
          </a:solidFill>
          <a:ln w="17780">
            <a:solidFill>
              <a:srgbClr val="5137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658368"/>
            <a:ext cx="402336" cy="40233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56832" y="2011680"/>
            <a:ext cx="228600" cy="22860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0" y="59436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EA5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58368" y="1417320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MCP servers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685800" y="260604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dirty="0">
                <a:solidFill>
                  <a:srgbClr val="D0CA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Trusted tools, least privilege, and external context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685800" y="3858768"/>
            <a:ext cx="2788920" cy="475488"/>
          </a:xfrm>
          <a:prstGeom prst="roundRect">
            <a:avLst>
              <a:gd name="adj" fmla="val 15385"/>
            </a:avLst>
          </a:prstGeom>
          <a:solidFill>
            <a:srgbClr val="24143A"/>
          </a:solidFill>
          <a:ln w="12700">
            <a:solidFill>
              <a:srgbClr val="5137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858768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Repository module 03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" y="477316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D0CA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Copilot Advanced Workshop  |  July 2026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256032"/>
            <a:ext cx="530352" cy="384048"/>
          </a:xfrm>
          <a:prstGeom prst="roundRect">
            <a:avLst>
              <a:gd name="adj" fmla="val 1904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10896" y="256032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87552" y="201168"/>
            <a:ext cx="6812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MCP architecture and security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05840" y="65836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visibility never replaces authentication or authorization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936992" y="164592"/>
            <a:ext cx="749808" cy="749808"/>
          </a:xfrm>
          <a:prstGeom prst="ellipse">
            <a:avLst/>
          </a:prstGeom>
          <a:solidFill>
            <a:srgbClr val="EDE9FE">
              <a:alpha val="30000"/>
            </a:srgbClr>
          </a:solidFill>
          <a:ln w="17780">
            <a:solidFill>
              <a:srgbClr val="D8CFF0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39328" y="475488"/>
            <a:ext cx="201168" cy="2011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91856" y="228600"/>
            <a:ext cx="109728" cy="109728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477316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Copilot Advanced Workshop  |  July 2026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502920" y="1170432"/>
            <a:ext cx="1408176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DDD7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1261872"/>
            <a:ext cx="126187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 host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911096" y="1389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A5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&gt;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185416" y="1170432"/>
            <a:ext cx="1408176" cy="749808"/>
          </a:xfrm>
          <a:prstGeom prst="roundRect">
            <a:avLst>
              <a:gd name="adj" fmla="val 9756"/>
            </a:avLst>
          </a:prstGeom>
          <a:solidFill>
            <a:srgbClr val="EDE9FE"/>
          </a:solidFill>
          <a:ln w="13970">
            <a:solidFill>
              <a:srgbClr val="DDD7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58568" y="1261872"/>
            <a:ext cx="126187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 configuration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593592" y="1389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A5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&gt;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867912" y="1170432"/>
            <a:ext cx="1408176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DDD7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41064" y="1261872"/>
            <a:ext cx="126187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Trusted server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276088" y="1389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A5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&gt;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550408" y="1170432"/>
            <a:ext cx="1408176" cy="749808"/>
          </a:xfrm>
          <a:prstGeom prst="roundRect">
            <a:avLst>
              <a:gd name="adj" fmla="val 9756"/>
            </a:avLst>
          </a:prstGeom>
          <a:solidFill>
            <a:srgbClr val="EDE9FE"/>
          </a:solidFill>
          <a:ln w="13970">
            <a:solidFill>
              <a:srgbClr val="DDD7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23560" y="1261872"/>
            <a:ext cx="126187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call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958584" y="1389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A5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&gt;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232904" y="1170432"/>
            <a:ext cx="1408176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14B8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06056" y="1261872"/>
            <a:ext cx="126187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system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2286000"/>
            <a:ext cx="3886200" cy="1828800"/>
          </a:xfrm>
          <a:prstGeom prst="roundRect">
            <a:avLst>
              <a:gd name="adj" fmla="val 4000"/>
            </a:avLst>
          </a:prstGeom>
          <a:solidFill>
            <a:srgbClr val="E0F2FE"/>
          </a:solidFill>
          <a:ln w="12700">
            <a:solidFill>
              <a:srgbClr val="DDD7E6"/>
            </a:solidFill>
            <a:prstDash val="solid"/>
          </a:ln>
          <a:effectLst>
            <a:outerShdw blurRad="25400" dist="12700" dir="2700000" algn="bl" rotWithShape="0">
              <a:srgbClr val="6D5D8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67512" y="2441448"/>
            <a:ext cx="109728" cy="1517904"/>
          </a:xfrm>
          <a:prstGeom prst="roundRect">
            <a:avLst>
              <a:gd name="adj" fmla="val 33333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6968" y="2432304"/>
            <a:ext cx="3355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Included servers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86968" y="2807208"/>
            <a:ext cx="3355848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remote MCP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Playwright local MCP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STDIO for local tools; Streamable HTTP for remote tools.</a:t>
            </a:r>
            <a:endParaRPr lang="en-US" sz="1120" dirty="0"/>
          </a:p>
        </p:txBody>
      </p:sp>
      <p:sp>
        <p:nvSpPr>
          <p:cNvPr id="28" name="Shape 26"/>
          <p:cNvSpPr/>
          <p:nvPr/>
        </p:nvSpPr>
        <p:spPr>
          <a:xfrm>
            <a:off x="4754880" y="2286000"/>
            <a:ext cx="3886200" cy="1828800"/>
          </a:xfrm>
          <a:prstGeom prst="roundRect">
            <a:avLst>
              <a:gd name="adj" fmla="val 4000"/>
            </a:avLst>
          </a:prstGeom>
          <a:solidFill>
            <a:srgbClr val="FFE4E6"/>
          </a:solidFill>
          <a:ln w="12700">
            <a:solidFill>
              <a:srgbClr val="DDD7E6"/>
            </a:solidFill>
            <a:prstDash val="solid"/>
          </a:ln>
          <a:effectLst>
            <a:outerShdw blurRad="25400" dist="12700" dir="2700000" algn="bl" rotWithShape="0">
              <a:srgbClr val="6D5D8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919472" y="2441448"/>
            <a:ext cx="109728" cy="1517904"/>
          </a:xfrm>
          <a:prstGeom prst="roundRect">
            <a:avLst>
              <a:gd name="adj" fmla="val 33333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38928" y="2432304"/>
            <a:ext cx="3355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checklist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138928" y="2798064"/>
            <a:ext cx="3355848" cy="12070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Allowlist only needed tools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least-privilege scopes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secrets outside source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third-party servers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Constrain browser and network access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806440" y="476402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30" u="sng" dirty="0">
                <a:solidFill>
                  <a:srgbClr val="7C3AED"/>
                </a:solidFill>
                <a:uFill>
                  <a:solidFill>
                    <a:srgbClr val="7C3AED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MCP and Copilot</a:t>
            </a:r>
            <a:endParaRPr lang="en-US" sz="83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rgbClr val="5E566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594360"/>
            <a:ext cx="1554480" cy="1554480"/>
          </a:xfrm>
          <a:prstGeom prst="ellipse">
            <a:avLst/>
          </a:prstGeom>
          <a:solidFill>
            <a:srgbClr val="24143A"/>
          </a:solidFill>
          <a:ln w="17780">
            <a:solidFill>
              <a:srgbClr val="5137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658368"/>
            <a:ext cx="402336" cy="40233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56832" y="2011680"/>
            <a:ext cx="228600" cy="22860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0" y="59436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43F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58368" y="1417320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GitHub Copilot CLI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685800" y="260604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dirty="0">
                <a:solidFill>
                  <a:srgbClr val="D0CA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Rubber Duck, Chronicle, Fleet, delegation, remote, and voice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685800" y="3858768"/>
            <a:ext cx="2788920" cy="475488"/>
          </a:xfrm>
          <a:prstGeom prst="roundRect">
            <a:avLst>
              <a:gd name="adj" fmla="val 15385"/>
            </a:avLst>
          </a:prstGeom>
          <a:solidFill>
            <a:srgbClr val="24143A"/>
          </a:solidFill>
          <a:ln w="12700">
            <a:solidFill>
              <a:srgbClr val="5137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858768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Repository module 04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" y="477316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D0CA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Copilot Advanced Workshop  |  July 2026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256032"/>
            <a:ext cx="530352" cy="384048"/>
          </a:xfrm>
          <a:prstGeom prst="roundRect">
            <a:avLst>
              <a:gd name="adj" fmla="val 1904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10896" y="256032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87552" y="201168"/>
            <a:ext cx="6812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modern terminal agent workflow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05840" y="65836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locally, validate, critique, then hand off only when useful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936992" y="164592"/>
            <a:ext cx="749808" cy="749808"/>
          </a:xfrm>
          <a:prstGeom prst="ellipse">
            <a:avLst/>
          </a:prstGeom>
          <a:solidFill>
            <a:srgbClr val="EDE9FE">
              <a:alpha val="30000"/>
            </a:srgbClr>
          </a:solidFill>
          <a:ln w="17780">
            <a:solidFill>
              <a:srgbClr val="D8CFF0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39328" y="475488"/>
            <a:ext cx="201168" cy="2011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91856" y="228600"/>
            <a:ext cx="109728" cy="109728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477316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Copilot Advanced Workshop  |  July 2026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502920" y="1188720"/>
            <a:ext cx="1408176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DDD7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1280160"/>
            <a:ext cx="126187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/plan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911096" y="14081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3F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&gt;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185416" y="1188720"/>
            <a:ext cx="1408176" cy="749808"/>
          </a:xfrm>
          <a:prstGeom prst="roundRect">
            <a:avLst>
              <a:gd name="adj" fmla="val 9756"/>
            </a:avLst>
          </a:prstGeom>
          <a:solidFill>
            <a:srgbClr val="EDE9FE"/>
          </a:solidFill>
          <a:ln w="13970">
            <a:solidFill>
              <a:srgbClr val="DDD7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58568" y="1280160"/>
            <a:ext cx="126187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Guided or Autopilot mode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593592" y="14081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3F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&gt;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867912" y="1188720"/>
            <a:ext cx="1408176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DDD7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41064" y="1280160"/>
            <a:ext cx="126187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/diff and tests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276088" y="14081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3F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&gt;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550408" y="1188720"/>
            <a:ext cx="1408176" cy="749808"/>
          </a:xfrm>
          <a:prstGeom prst="roundRect">
            <a:avLst>
              <a:gd name="adj" fmla="val 9756"/>
            </a:avLst>
          </a:prstGeom>
          <a:solidFill>
            <a:srgbClr val="EDE9FE"/>
          </a:solidFill>
          <a:ln w="13970">
            <a:solidFill>
              <a:srgbClr val="DDD7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23560" y="1280160"/>
            <a:ext cx="126187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/rubber-duck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958584" y="14081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3F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&gt;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232904" y="1188720"/>
            <a:ext cx="1408176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14B8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06056" y="1280160"/>
            <a:ext cx="126187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/delegate or share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2423160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EDE9FE"/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2532888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7C3A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GA</a:t>
            </a:r>
            <a:endParaRPr lang="en-US" sz="2700" dirty="0"/>
          </a:p>
        </p:txBody>
      </p:sp>
      <p:sp>
        <p:nvSpPr>
          <p:cNvPr id="26" name="Text 24"/>
          <p:cNvSpPr/>
          <p:nvPr/>
        </p:nvSpPr>
        <p:spPr>
          <a:xfrm>
            <a:off x="731520" y="299008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 CLI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423160" y="2423160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CCFBF1"/>
          </a:solidFill>
          <a:ln w="1270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23160" y="2532888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4B8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GA</a:t>
            </a:r>
            <a:endParaRPr lang="en-US" sz="2700" dirty="0"/>
          </a:p>
        </p:txBody>
      </p:sp>
      <p:sp>
        <p:nvSpPr>
          <p:cNvPr id="29" name="Text 27"/>
          <p:cNvSpPr/>
          <p:nvPr/>
        </p:nvSpPr>
        <p:spPr>
          <a:xfrm>
            <a:off x="2514600" y="299008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Rubber Duck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206240" y="2423160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E0F2FE"/>
          </a:solidFill>
          <a:ln w="12700">
            <a:solidFill>
              <a:srgbClr val="0EA5E9">
                <a:alpha val="5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0" y="2532888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EA5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GA</a:t>
            </a:r>
            <a:endParaRPr lang="en-US" sz="2700" dirty="0"/>
          </a:p>
        </p:txBody>
      </p:sp>
      <p:sp>
        <p:nvSpPr>
          <p:cNvPr id="32" name="Text 30"/>
          <p:cNvSpPr/>
          <p:nvPr/>
        </p:nvSpPr>
        <p:spPr>
          <a:xfrm>
            <a:off x="4297680" y="299008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Remote control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989320" y="2423160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FFE4E6"/>
          </a:solidFill>
          <a:ln w="12700">
            <a:solidFill>
              <a:srgbClr val="F43F5E">
                <a:alpha val="5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89320" y="2532888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43F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GA</a:t>
            </a:r>
            <a:endParaRPr lang="en-US" sz="2700" dirty="0"/>
          </a:p>
        </p:txBody>
      </p:sp>
      <p:sp>
        <p:nvSpPr>
          <p:cNvPr id="35" name="Text 33"/>
          <p:cNvSpPr/>
          <p:nvPr/>
        </p:nvSpPr>
        <p:spPr>
          <a:xfrm>
            <a:off x="6080760" y="299008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Voice input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005840" y="382219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redesigned terminal interface is GA. Verify the installed build with /version and /changelog.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806440" y="476402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30" u="sng" dirty="0">
                <a:solidFill>
                  <a:srgbClr val="7C3AED"/>
                </a:solidFill>
                <a:uFill>
                  <a:solidFill>
                    <a:srgbClr val="7C3AED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 command reference</a:t>
            </a:r>
            <a:endParaRPr lang="en-US" sz="83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rgbClr val="5E566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256032"/>
            <a:ext cx="530352" cy="384048"/>
          </a:xfrm>
          <a:prstGeom prst="roundRect">
            <a:avLst>
              <a:gd name="adj" fmla="val 1904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10896" y="256032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87552" y="201168"/>
            <a:ext cx="6812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 feature map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05840" y="65836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/help as the live source of truth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936992" y="164592"/>
            <a:ext cx="749808" cy="749808"/>
          </a:xfrm>
          <a:prstGeom prst="ellipse">
            <a:avLst/>
          </a:prstGeom>
          <a:solidFill>
            <a:srgbClr val="EDE9FE">
              <a:alpha val="30000"/>
            </a:srgbClr>
          </a:solidFill>
          <a:ln w="17780">
            <a:solidFill>
              <a:srgbClr val="D8CFF0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39328" y="475488"/>
            <a:ext cx="201168" cy="2011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91856" y="228600"/>
            <a:ext cx="109728" cy="109728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477316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Copilot Advanced Workshop  |  July 2026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502920" y="1024128"/>
            <a:ext cx="3886200" cy="932688"/>
          </a:xfrm>
          <a:prstGeom prst="roundRect">
            <a:avLst>
              <a:gd name="adj" fmla="val 7843"/>
            </a:avLst>
          </a:prstGeom>
          <a:solidFill>
            <a:srgbClr val="EDE9FE"/>
          </a:solidFill>
          <a:ln w="12700">
            <a:solidFill>
              <a:srgbClr val="DDD7E6"/>
            </a:solidFill>
            <a:prstDash val="solid"/>
          </a:ln>
          <a:effectLst>
            <a:outerShdw blurRad="25400" dist="12700" dir="2700000" algn="bl" rotWithShape="0">
              <a:srgbClr val="6D5D8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7512" y="1179576"/>
            <a:ext cx="109728" cy="621792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1170432"/>
            <a:ext cx="3355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86968" y="1545336"/>
            <a:ext cx="335584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/plan  /refine  Autopilot  /fleet  /tasks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4754880" y="1024128"/>
            <a:ext cx="3886200" cy="932688"/>
          </a:xfrm>
          <a:prstGeom prst="roundRect">
            <a:avLst>
              <a:gd name="adj" fmla="val 7843"/>
            </a:avLst>
          </a:prstGeom>
          <a:solidFill>
            <a:srgbClr val="CCFBF1"/>
          </a:solidFill>
          <a:ln w="12700">
            <a:solidFill>
              <a:srgbClr val="DDD7E6"/>
            </a:solidFill>
            <a:prstDash val="solid"/>
          </a:ln>
          <a:effectLst>
            <a:outerShdw blurRad="25400" dist="12700" dir="2700000" algn="bl" rotWithShape="0">
              <a:srgbClr val="6D5D8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919472" y="1179576"/>
            <a:ext cx="109728" cy="621792"/>
          </a:xfrm>
          <a:prstGeom prst="roundRect">
            <a:avLst>
              <a:gd name="adj" fmla="val 33333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38928" y="1170432"/>
            <a:ext cx="3355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Review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138928" y="1545336"/>
            <a:ext cx="335584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/rubber-duck  /review  /security-review  /diff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502920" y="2167128"/>
            <a:ext cx="3886200" cy="932688"/>
          </a:xfrm>
          <a:prstGeom prst="roundRect">
            <a:avLst>
              <a:gd name="adj" fmla="val 7843"/>
            </a:avLst>
          </a:prstGeom>
          <a:solidFill>
            <a:srgbClr val="E0F2FE"/>
          </a:solidFill>
          <a:ln w="12700">
            <a:solidFill>
              <a:srgbClr val="DDD7E6"/>
            </a:solidFill>
            <a:prstDash val="solid"/>
          </a:ln>
          <a:effectLst>
            <a:outerShdw blurRad="25400" dist="12700" dir="2700000" algn="bl" rotWithShape="0">
              <a:srgbClr val="6D5D8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67512" y="2322576"/>
            <a:ext cx="109728" cy="621792"/>
          </a:xfrm>
          <a:prstGeom prst="roundRect">
            <a:avLst>
              <a:gd name="adj" fmla="val 33333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6968" y="2313432"/>
            <a:ext cx="3355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86968" y="2688336"/>
            <a:ext cx="335584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/research  /ask  GitHub and web search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4754880" y="2167128"/>
            <a:ext cx="3886200" cy="932688"/>
          </a:xfrm>
          <a:prstGeom prst="roundRect">
            <a:avLst>
              <a:gd name="adj" fmla="val 7843"/>
            </a:avLst>
          </a:prstGeom>
          <a:solidFill>
            <a:srgbClr val="FFE4E6"/>
          </a:solidFill>
          <a:ln w="12700">
            <a:solidFill>
              <a:srgbClr val="DDD7E6"/>
            </a:solidFill>
            <a:prstDash val="solid"/>
          </a:ln>
          <a:effectLst>
            <a:outerShdw blurRad="25400" dist="12700" dir="2700000" algn="bl" rotWithShape="0">
              <a:srgbClr val="6D5D8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19472" y="2322576"/>
            <a:ext cx="109728" cy="621792"/>
          </a:xfrm>
          <a:prstGeom prst="roundRect">
            <a:avLst>
              <a:gd name="adj" fmla="val 33333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38928" y="2313432"/>
            <a:ext cx="3355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Extend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138928" y="2688336"/>
            <a:ext cx="335584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/agent  /skills  /plugin  /mcp  /lsp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502920" y="3310128"/>
            <a:ext cx="3886200" cy="932688"/>
          </a:xfrm>
          <a:prstGeom prst="roundRect">
            <a:avLst>
              <a:gd name="adj" fmla="val 7843"/>
            </a:avLst>
          </a:prstGeom>
          <a:solidFill>
            <a:srgbClr val="FEF3C7"/>
          </a:solidFill>
          <a:ln w="12700">
            <a:solidFill>
              <a:srgbClr val="DDD7E6"/>
            </a:solidFill>
            <a:prstDash val="solid"/>
          </a:ln>
          <a:effectLst>
            <a:outerShdw blurRad="25400" dist="12700" dir="2700000" algn="bl" rotWithShape="0">
              <a:srgbClr val="6D5D8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67512" y="3465576"/>
            <a:ext cx="109728" cy="621792"/>
          </a:xfrm>
          <a:prstGeom prst="roundRect">
            <a:avLst>
              <a:gd name="adj" fmla="val 33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6968" y="3456432"/>
            <a:ext cx="3355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History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86968" y="3831336"/>
            <a:ext cx="335584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/chronicle  /resume  /search  /rewind  /share</a:t>
            </a:r>
            <a:endParaRPr lang="en-US" sz="1120" dirty="0"/>
          </a:p>
        </p:txBody>
      </p:sp>
      <p:sp>
        <p:nvSpPr>
          <p:cNvPr id="30" name="Shape 28"/>
          <p:cNvSpPr/>
          <p:nvPr/>
        </p:nvSpPr>
        <p:spPr>
          <a:xfrm>
            <a:off x="4754880" y="3310128"/>
            <a:ext cx="3886200" cy="932688"/>
          </a:xfrm>
          <a:prstGeom prst="roundRect">
            <a:avLst>
              <a:gd name="adj" fmla="val 7843"/>
            </a:avLst>
          </a:prstGeom>
          <a:solidFill>
            <a:srgbClr val="EDE9FE"/>
          </a:solidFill>
          <a:ln w="12700">
            <a:solidFill>
              <a:srgbClr val="DDD7E6"/>
            </a:solidFill>
            <a:prstDash val="solid"/>
          </a:ln>
          <a:effectLst>
            <a:outerShdw blurRad="25400" dist="12700" dir="2700000" algn="bl" rotWithShape="0">
              <a:srgbClr val="6D5D8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19472" y="3465576"/>
            <a:ext cx="109728" cy="621792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38928" y="3456432"/>
            <a:ext cx="3355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Connect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38928" y="3831336"/>
            <a:ext cx="335584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/delegate  /remote  /app  /voice  /pr</a:t>
            </a:r>
            <a:endParaRPr lang="en-US" sz="112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rgbClr val="5E566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256032"/>
            <a:ext cx="530352" cy="384048"/>
          </a:xfrm>
          <a:prstGeom prst="roundRect">
            <a:avLst>
              <a:gd name="adj" fmla="val 1904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10896" y="256032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87552" y="201168"/>
            <a:ext cx="6812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Rubber Duck, Chronicle, and Fleet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05840" y="65836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features that change how you work, not just what you type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936992" y="164592"/>
            <a:ext cx="749808" cy="749808"/>
          </a:xfrm>
          <a:prstGeom prst="ellipse">
            <a:avLst/>
          </a:prstGeom>
          <a:solidFill>
            <a:srgbClr val="EDE9FE">
              <a:alpha val="30000"/>
            </a:srgbClr>
          </a:solidFill>
          <a:ln w="17780">
            <a:solidFill>
              <a:srgbClr val="D8CFF0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39328" y="475488"/>
            <a:ext cx="201168" cy="2011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91856" y="228600"/>
            <a:ext cx="109728" cy="109728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477316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Copilot Advanced Workshop  |  July 2026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411480" y="1060704"/>
            <a:ext cx="2633472" cy="2148840"/>
          </a:xfrm>
          <a:prstGeom prst="roundRect">
            <a:avLst>
              <a:gd name="adj" fmla="val 3404"/>
            </a:avLst>
          </a:prstGeom>
          <a:solidFill>
            <a:srgbClr val="CCFBF1"/>
          </a:solidFill>
          <a:ln w="12700">
            <a:solidFill>
              <a:srgbClr val="DDD7E6"/>
            </a:solidFill>
            <a:prstDash val="solid"/>
          </a:ln>
          <a:effectLst>
            <a:outerShdw blurRad="25400" dist="12700" dir="2700000" algn="bl" rotWithShape="0">
              <a:srgbClr val="6D5D8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76072" y="1216152"/>
            <a:ext cx="109728" cy="1837944"/>
          </a:xfrm>
          <a:prstGeom prst="roundRect">
            <a:avLst>
              <a:gd name="adj" fmla="val 33333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120700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Rubber Duck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95528" y="1581912"/>
            <a:ext cx="2103120" cy="1490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Read-only second opinion using a contrasting model.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Challenge plans, code, tests, and assumptions before you finish.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3255264" y="1060704"/>
            <a:ext cx="2633472" cy="2148840"/>
          </a:xfrm>
          <a:prstGeom prst="roundRect">
            <a:avLst>
              <a:gd name="adj" fmla="val 3404"/>
            </a:avLst>
          </a:prstGeom>
          <a:solidFill>
            <a:srgbClr val="EDE9FE"/>
          </a:solidFill>
          <a:ln w="12700">
            <a:solidFill>
              <a:srgbClr val="DDD7E6"/>
            </a:solidFill>
            <a:prstDash val="solid"/>
          </a:ln>
          <a:effectLst>
            <a:outerShdw blurRad="25400" dist="12700" dir="2700000" algn="bl" rotWithShape="0">
              <a:srgbClr val="6D5D8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19856" y="1216152"/>
            <a:ext cx="109728" cy="1837944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9312" y="120700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Chronicle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39312" y="1581912"/>
            <a:ext cx="2103120" cy="1490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Analyze synchronized session history.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standups, tips, usage insights, instruction improvements, and skill ideas.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6099048" y="1060704"/>
            <a:ext cx="2633472" cy="2148840"/>
          </a:xfrm>
          <a:prstGeom prst="roundRect">
            <a:avLst>
              <a:gd name="adj" fmla="val 3404"/>
            </a:avLst>
          </a:prstGeom>
          <a:solidFill>
            <a:srgbClr val="FFE4E6"/>
          </a:solidFill>
          <a:ln w="12700">
            <a:solidFill>
              <a:srgbClr val="DDD7E6"/>
            </a:solidFill>
            <a:prstDash val="solid"/>
          </a:ln>
          <a:effectLst>
            <a:outerShdw blurRad="25400" dist="12700" dir="2700000" algn="bl" rotWithShape="0">
              <a:srgbClr val="6D5D8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63640" y="1216152"/>
            <a:ext cx="109728" cy="1837944"/>
          </a:xfrm>
          <a:prstGeom prst="roundRect">
            <a:avLst>
              <a:gd name="adj" fmla="val 33333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83096" y="120700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Fleet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83096" y="1581912"/>
            <a:ext cx="2103120" cy="1490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Parallel local subagents managed by the CLI orchestrator.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only when tasks are genuinely independent.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960120" y="3584448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Fleet is local orchestration. /delegate sends work to Cloud Agent. They are not the same workflow.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rgbClr val="5E566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256032"/>
            <a:ext cx="530352" cy="384048"/>
          </a:xfrm>
          <a:prstGeom prst="roundRect">
            <a:avLst>
              <a:gd name="adj" fmla="val 1904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10896" y="256032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87552" y="201168"/>
            <a:ext cx="6812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status and version caveats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05840" y="65836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Teach the capability and verify the command in the installed build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936992" y="164592"/>
            <a:ext cx="749808" cy="749808"/>
          </a:xfrm>
          <a:prstGeom prst="ellipse">
            <a:avLst/>
          </a:prstGeom>
          <a:solidFill>
            <a:srgbClr val="EDE9FE">
              <a:alpha val="30000"/>
            </a:srgbClr>
          </a:solidFill>
          <a:ln w="17780">
            <a:solidFill>
              <a:srgbClr val="D8CFF0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39328" y="475488"/>
            <a:ext cx="201168" cy="2011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91856" y="228600"/>
            <a:ext cx="109728" cy="109728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477316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Copilot Advanced Workshop  |  July 2026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502920" y="1078992"/>
            <a:ext cx="3886200" cy="2240280"/>
          </a:xfrm>
          <a:prstGeom prst="roundRect">
            <a:avLst>
              <a:gd name="adj" fmla="val 3265"/>
            </a:avLst>
          </a:prstGeom>
          <a:solidFill>
            <a:srgbClr val="CCFBF1"/>
          </a:solidFill>
          <a:ln w="12700">
            <a:solidFill>
              <a:srgbClr val="DDD7E6"/>
            </a:solidFill>
            <a:prstDash val="solid"/>
          </a:ln>
          <a:effectLst>
            <a:outerShdw blurRad="25400" dist="12700" dir="2700000" algn="bl" rotWithShape="0">
              <a:srgbClr val="6D5D8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7512" y="1234440"/>
            <a:ext cx="109728" cy="1929384"/>
          </a:xfrm>
          <a:prstGeom prst="roundRect">
            <a:avLst>
              <a:gd name="adj" fmla="val 33333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1225296"/>
            <a:ext cx="3355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Generally available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86968" y="1591056"/>
            <a:ext cx="3355848" cy="1618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 CLI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Redesigned terminal UI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Rubber Duck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Voice input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Remote control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078992"/>
            <a:ext cx="3886200" cy="2240280"/>
          </a:xfrm>
          <a:prstGeom prst="roundRect">
            <a:avLst>
              <a:gd name="adj" fmla="val 3265"/>
            </a:avLst>
          </a:prstGeom>
          <a:solidFill>
            <a:srgbClr val="FFE4E6"/>
          </a:solidFill>
          <a:ln w="12700">
            <a:solidFill>
              <a:srgbClr val="DDD7E6"/>
            </a:solidFill>
            <a:prstDash val="solid"/>
          </a:ln>
          <a:effectLst>
            <a:outerShdw blurRad="25400" dist="12700" dir="2700000" algn="bl" rotWithShape="0">
              <a:srgbClr val="6D5D8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919472" y="1234440"/>
            <a:ext cx="109728" cy="1929384"/>
          </a:xfrm>
          <a:prstGeom prst="roundRect">
            <a:avLst>
              <a:gd name="adj" fmla="val 33333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38928" y="1225296"/>
            <a:ext cx="3355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Preview or experimental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138928" y="1591056"/>
            <a:ext cx="3355848" cy="1618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 Memory: public preview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/mcp search: experimental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/every and /after scheduling: experimental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cloud sandboxes: public preview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3639312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 builds expose /autopilot or /memory toggles. Official guidance treats Autopilot as a mode and Memory as a capability. Check /help.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rgbClr val="5E566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594360"/>
            <a:ext cx="1554480" cy="1554480"/>
          </a:xfrm>
          <a:prstGeom prst="ellipse">
            <a:avLst/>
          </a:prstGeom>
          <a:solidFill>
            <a:srgbClr val="24143A"/>
          </a:solidFill>
          <a:ln w="17780">
            <a:solidFill>
              <a:srgbClr val="5137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658368"/>
            <a:ext cx="402336" cy="40233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56832" y="2011680"/>
            <a:ext cx="228600" cy="22860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0" y="59436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58368" y="1417320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 modernization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685800" y="260604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dirty="0">
                <a:solidFill>
                  <a:srgbClr val="D0CA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Inventory, plan, migrate incrementally, and preserve behavior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685800" y="3858768"/>
            <a:ext cx="2788920" cy="475488"/>
          </a:xfrm>
          <a:prstGeom prst="roundRect">
            <a:avLst>
              <a:gd name="adj" fmla="val 15385"/>
            </a:avLst>
          </a:prstGeom>
          <a:solidFill>
            <a:srgbClr val="24143A"/>
          </a:solidFill>
          <a:ln w="12700">
            <a:solidFill>
              <a:srgbClr val="5137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858768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Repository module 05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" y="477316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D0CA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Copilot Advanced Workshop  |  July 2026</a:t>
            </a:r>
            <a:endParaRPr lang="en-US" sz="9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256032"/>
            <a:ext cx="530352" cy="384048"/>
          </a:xfrm>
          <a:prstGeom prst="roundRect">
            <a:avLst>
              <a:gd name="adj" fmla="val 1904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10896" y="256032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87552" y="201168"/>
            <a:ext cx="6812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modernization loop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05840" y="65836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 accelerates analysis and implementation; tests protect behavior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936992" y="164592"/>
            <a:ext cx="749808" cy="749808"/>
          </a:xfrm>
          <a:prstGeom prst="ellipse">
            <a:avLst/>
          </a:prstGeom>
          <a:solidFill>
            <a:srgbClr val="EDE9FE">
              <a:alpha val="30000"/>
            </a:srgbClr>
          </a:solidFill>
          <a:ln w="17780">
            <a:solidFill>
              <a:srgbClr val="D8CFF0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39328" y="475488"/>
            <a:ext cx="201168" cy="2011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91856" y="228600"/>
            <a:ext cx="109728" cy="109728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477316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Copilot Advanced Workshop  |  July 2026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502920" y="1188720"/>
            <a:ext cx="1408176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DDD7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1280160"/>
            <a:ext cx="126187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911096" y="14081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&gt;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185416" y="1188720"/>
            <a:ext cx="1408176" cy="749808"/>
          </a:xfrm>
          <a:prstGeom prst="roundRect">
            <a:avLst>
              <a:gd name="adj" fmla="val 9756"/>
            </a:avLst>
          </a:prstGeom>
          <a:solidFill>
            <a:srgbClr val="EDE9FE"/>
          </a:solidFill>
          <a:ln w="13970">
            <a:solidFill>
              <a:srgbClr val="DDD7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58568" y="1280160"/>
            <a:ext cx="126187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Characterize behavior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593592" y="14081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&gt;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867912" y="1188720"/>
            <a:ext cx="1408176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DDD7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41064" y="1280160"/>
            <a:ext cx="126187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small steps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276088" y="14081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&gt;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550408" y="1188720"/>
            <a:ext cx="1408176" cy="749808"/>
          </a:xfrm>
          <a:prstGeom prst="roundRect">
            <a:avLst>
              <a:gd name="adj" fmla="val 9756"/>
            </a:avLst>
          </a:prstGeom>
          <a:solidFill>
            <a:srgbClr val="EDE9FE"/>
          </a:solidFill>
          <a:ln w="13970">
            <a:solidFill>
              <a:srgbClr val="DDD7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23560" y="1280160"/>
            <a:ext cx="126187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Migrate one concern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958584" y="14081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&gt;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232904" y="1188720"/>
            <a:ext cx="1408176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14B8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06056" y="1280160"/>
            <a:ext cx="126187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and test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2331720"/>
            <a:ext cx="3886200" cy="1371600"/>
          </a:xfrm>
          <a:prstGeom prst="roundRect">
            <a:avLst>
              <a:gd name="adj" fmla="val 5333"/>
            </a:avLst>
          </a:prstGeom>
          <a:solidFill>
            <a:srgbClr val="EDE9FE"/>
          </a:solidFill>
          <a:ln w="12700">
            <a:solidFill>
              <a:srgbClr val="DDD7E6"/>
            </a:solidFill>
            <a:prstDash val="solid"/>
          </a:ln>
          <a:effectLst>
            <a:outerShdw blurRad="25400" dist="12700" dir="2700000" algn="bl" rotWithShape="0">
              <a:srgbClr val="6D5D8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67512" y="2487168"/>
            <a:ext cx="109728" cy="1060704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6968" y="2478024"/>
            <a:ext cx="3355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.NET sample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86968" y="2852928"/>
            <a:ext cx="3355848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API 2, Web.config, synchronous repository, direct construction.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a supported .NET release and ASP.NET Core.</a:t>
            </a:r>
            <a:endParaRPr lang="en-US" sz="1120" dirty="0"/>
          </a:p>
        </p:txBody>
      </p:sp>
      <p:sp>
        <p:nvSpPr>
          <p:cNvPr id="28" name="Shape 26"/>
          <p:cNvSpPr/>
          <p:nvPr/>
        </p:nvSpPr>
        <p:spPr>
          <a:xfrm>
            <a:off x="4754880" y="2331720"/>
            <a:ext cx="3886200" cy="1371600"/>
          </a:xfrm>
          <a:prstGeom prst="roundRect">
            <a:avLst>
              <a:gd name="adj" fmla="val 5333"/>
            </a:avLst>
          </a:prstGeom>
          <a:solidFill>
            <a:srgbClr val="CCFBF1"/>
          </a:solidFill>
          <a:ln w="12700">
            <a:solidFill>
              <a:srgbClr val="DDD7E6"/>
            </a:solidFill>
            <a:prstDash val="solid"/>
          </a:ln>
          <a:effectLst>
            <a:outerShdw blurRad="25400" dist="12700" dir="2700000" algn="bl" rotWithShape="0">
              <a:srgbClr val="6D5D8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919472" y="2487168"/>
            <a:ext cx="109728" cy="1060704"/>
          </a:xfrm>
          <a:prstGeom prst="roundRect">
            <a:avLst>
              <a:gd name="adj" fmla="val 33333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38928" y="2478024"/>
            <a:ext cx="3355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Java sample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138928" y="2852928"/>
            <a:ext cx="3355848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Java 8 servlet, manual JSON, tightly coupled request handling.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Java 21 and Spring Boot 3.</a:t>
            </a:r>
            <a:endParaRPr lang="en-US" sz="112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rgbClr val="5E566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594360"/>
            <a:ext cx="1554480" cy="1554480"/>
          </a:xfrm>
          <a:prstGeom prst="ellipse">
            <a:avLst/>
          </a:prstGeom>
          <a:solidFill>
            <a:srgbClr val="24143A"/>
          </a:solidFill>
          <a:ln w="17780">
            <a:solidFill>
              <a:srgbClr val="5137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658368"/>
            <a:ext cx="402336" cy="40233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56832" y="2011680"/>
            <a:ext cx="228600" cy="22860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0" y="59436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4B8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58368" y="1417320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QA and testing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685800" y="260604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dirty="0">
                <a:solidFill>
                  <a:srgbClr val="D0CA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planning, focused generation, Playwright, and accessibility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685800" y="3858768"/>
            <a:ext cx="2788920" cy="475488"/>
          </a:xfrm>
          <a:prstGeom prst="roundRect">
            <a:avLst>
              <a:gd name="adj" fmla="val 15385"/>
            </a:avLst>
          </a:prstGeom>
          <a:solidFill>
            <a:srgbClr val="24143A"/>
          </a:solidFill>
          <a:ln w="12700">
            <a:solidFill>
              <a:srgbClr val="5137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858768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Repository module 06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" y="477316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D0CA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Copilot Advanced Workshop  |  July 2026</a:t>
            </a:r>
            <a:endParaRPr lang="en-US" sz="9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256032"/>
            <a:ext cx="530352" cy="384048"/>
          </a:xfrm>
          <a:prstGeom prst="roundRect">
            <a:avLst>
              <a:gd name="adj" fmla="val 1904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10896" y="256032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87552" y="201168"/>
            <a:ext cx="6812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Generate a plan before tests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05840" y="65836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 should expose assumptions before it writes assertions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936992" y="164592"/>
            <a:ext cx="749808" cy="749808"/>
          </a:xfrm>
          <a:prstGeom prst="ellipse">
            <a:avLst/>
          </a:prstGeom>
          <a:solidFill>
            <a:srgbClr val="EDE9FE">
              <a:alpha val="30000"/>
            </a:srgbClr>
          </a:solidFill>
          <a:ln w="17780">
            <a:solidFill>
              <a:srgbClr val="D8CFF0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39328" y="475488"/>
            <a:ext cx="201168" cy="2011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91856" y="228600"/>
            <a:ext cx="109728" cy="109728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477316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Copilot Advanced Workshop  |  July 2026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502920" y="1170432"/>
            <a:ext cx="1408176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DDD7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1261872"/>
            <a:ext cx="126187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behavior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911096" y="1389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B8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&gt;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185416" y="1170432"/>
            <a:ext cx="1408176" cy="749808"/>
          </a:xfrm>
          <a:prstGeom prst="roundRect">
            <a:avLst>
              <a:gd name="adj" fmla="val 9756"/>
            </a:avLst>
          </a:prstGeom>
          <a:solidFill>
            <a:srgbClr val="EDE9FE"/>
          </a:solidFill>
          <a:ln w="13970">
            <a:solidFill>
              <a:srgbClr val="DDD7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58568" y="1261872"/>
            <a:ext cx="126187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 test plan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593592" y="1389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B8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&gt;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867912" y="1170432"/>
            <a:ext cx="1408176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DDD7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41064" y="1261872"/>
            <a:ext cx="126187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cases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276088" y="1389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B8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&gt;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550408" y="1170432"/>
            <a:ext cx="1408176" cy="749808"/>
          </a:xfrm>
          <a:prstGeom prst="roundRect">
            <a:avLst>
              <a:gd name="adj" fmla="val 9756"/>
            </a:avLst>
          </a:prstGeom>
          <a:solidFill>
            <a:srgbClr val="EDE9FE"/>
          </a:solidFill>
          <a:ln w="13970">
            <a:solidFill>
              <a:srgbClr val="DDD7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23560" y="1261872"/>
            <a:ext cx="126187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focused tests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958584" y="1389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B8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&gt;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232904" y="1170432"/>
            <a:ext cx="1408176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14B8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06056" y="1261872"/>
            <a:ext cx="126187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and review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2304288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EDE9FE"/>
          </a:solidFill>
          <a:ln w="12700">
            <a:solidFill>
              <a:srgbClr val="DDD7E6"/>
            </a:solidFill>
            <a:prstDash val="solid"/>
          </a:ln>
          <a:effectLst>
            <a:outerShdw blurRad="25400" dist="12700" dir="2700000" algn="bl" rotWithShape="0">
              <a:srgbClr val="6D5D8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67512" y="2459736"/>
            <a:ext cx="109728" cy="1106424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6968" y="2450592"/>
            <a:ext cx="1984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86968" y="2825496"/>
            <a:ext cx="1984248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xUnit and Moq sample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rules, validation, failures</a:t>
            </a:r>
            <a:endParaRPr lang="en-US" sz="1120" dirty="0"/>
          </a:p>
        </p:txBody>
      </p:sp>
      <p:sp>
        <p:nvSpPr>
          <p:cNvPr id="28" name="Shape 26"/>
          <p:cNvSpPr/>
          <p:nvPr/>
        </p:nvSpPr>
        <p:spPr>
          <a:xfrm>
            <a:off x="3310128" y="2304288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E0F2FE"/>
          </a:solidFill>
          <a:ln w="12700">
            <a:solidFill>
              <a:srgbClr val="DDD7E6"/>
            </a:solidFill>
            <a:prstDash val="solid"/>
          </a:ln>
          <a:effectLst>
            <a:outerShdw blurRad="25400" dist="12700" dir="2700000" algn="bl" rotWithShape="0">
              <a:srgbClr val="6D5D8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474720" y="2459736"/>
            <a:ext cx="109728" cy="1106424"/>
          </a:xfrm>
          <a:prstGeom prst="roundRect">
            <a:avLst>
              <a:gd name="adj" fmla="val 33333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94176" y="2450592"/>
            <a:ext cx="1984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End-to-end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694176" y="2825496"/>
            <a:ext cx="1984248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Playwright sample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Stable role and label locators</a:t>
            </a:r>
            <a:endParaRPr lang="en-US" sz="1120" dirty="0"/>
          </a:p>
        </p:txBody>
      </p:sp>
      <p:sp>
        <p:nvSpPr>
          <p:cNvPr id="32" name="Shape 30"/>
          <p:cNvSpPr/>
          <p:nvPr/>
        </p:nvSpPr>
        <p:spPr>
          <a:xfrm>
            <a:off x="6126480" y="2304288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E4E6"/>
          </a:solidFill>
          <a:ln w="12700">
            <a:solidFill>
              <a:srgbClr val="DDD7E6"/>
            </a:solidFill>
            <a:prstDash val="solid"/>
          </a:ln>
          <a:effectLst>
            <a:outerShdw blurRad="25400" dist="12700" dir="2700000" algn="bl" rotWithShape="0">
              <a:srgbClr val="6D5D8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91072" y="2459736"/>
            <a:ext cx="109728" cy="1106424"/>
          </a:xfrm>
          <a:prstGeom prst="roundRect">
            <a:avLst>
              <a:gd name="adj" fmla="val 33333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10528" y="2450592"/>
            <a:ext cx="1984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Accessibility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510528" y="2825496"/>
            <a:ext cx="1984248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axe-core plus keyboard checks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Automated checks need human review</a:t>
            </a:r>
            <a:endParaRPr lang="en-US" sz="112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rgbClr val="5E566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594360"/>
            <a:ext cx="1554480" cy="1554480"/>
          </a:xfrm>
          <a:prstGeom prst="ellipse">
            <a:avLst/>
          </a:prstGeom>
          <a:solidFill>
            <a:srgbClr val="24143A"/>
          </a:solidFill>
          <a:ln w="17780">
            <a:solidFill>
              <a:srgbClr val="5137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658368"/>
            <a:ext cx="402336" cy="40233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56832" y="2011680"/>
            <a:ext cx="228600" cy="22860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0" y="59436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7C3A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58368" y="1417320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GitHub Copilot App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685800" y="260604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dirty="0">
                <a:solidFill>
                  <a:srgbClr val="D0CA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visual workspace built on Copilot CLI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685800" y="3858768"/>
            <a:ext cx="2788920" cy="475488"/>
          </a:xfrm>
          <a:prstGeom prst="roundRect">
            <a:avLst>
              <a:gd name="adj" fmla="val 15385"/>
            </a:avLst>
          </a:prstGeom>
          <a:solidFill>
            <a:srgbClr val="24143A"/>
          </a:solidFill>
          <a:ln w="12700">
            <a:solidFill>
              <a:srgbClr val="5137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858768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Repository module 07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" y="477316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D0CA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Copilot Advanced Workshop  |  July 2026</a:t>
            </a:r>
            <a:endParaRPr lang="en-US" sz="9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256032"/>
            <a:ext cx="530352" cy="384048"/>
          </a:xfrm>
          <a:prstGeom prst="roundRect">
            <a:avLst>
              <a:gd name="adj" fmla="val 1904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10896" y="256032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87552" y="201168"/>
            <a:ext cx="6812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app workspace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05840" y="65836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Parallel isolated sessions without losing the CLI agent model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936992" y="164592"/>
            <a:ext cx="749808" cy="749808"/>
          </a:xfrm>
          <a:prstGeom prst="ellipse">
            <a:avLst/>
          </a:prstGeom>
          <a:solidFill>
            <a:srgbClr val="EDE9FE">
              <a:alpha val="30000"/>
            </a:srgbClr>
          </a:solidFill>
          <a:ln w="17780">
            <a:solidFill>
              <a:srgbClr val="D8CFF0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39328" y="475488"/>
            <a:ext cx="201168" cy="2011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91856" y="228600"/>
            <a:ext cx="109728" cy="109728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477316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Copilot Advanced Workshop  |  July 2026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411480" y="105156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EDE9FE"/>
          </a:solidFill>
          <a:ln w="12700">
            <a:solidFill>
              <a:srgbClr val="DDD7E6"/>
            </a:solidFill>
            <a:prstDash val="solid"/>
          </a:ln>
          <a:effectLst>
            <a:outerShdw blurRad="25400" dist="12700" dir="2700000" algn="bl" rotWithShape="0">
              <a:srgbClr val="6D5D8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76072" y="1207008"/>
            <a:ext cx="109728" cy="923544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1197864"/>
            <a:ext cx="2075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Worktrees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95528" y="1572768"/>
            <a:ext cx="207568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branches and files for parallel tasks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3273552" y="105156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CCFBF1"/>
          </a:solidFill>
          <a:ln w="12700">
            <a:solidFill>
              <a:srgbClr val="DDD7E6"/>
            </a:solidFill>
            <a:prstDash val="solid"/>
          </a:ln>
          <a:effectLst>
            <a:outerShdw blurRad="25400" dist="12700" dir="2700000" algn="bl" rotWithShape="0">
              <a:srgbClr val="6D5D8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38144" y="1207008"/>
            <a:ext cx="109728" cy="923544"/>
          </a:xfrm>
          <a:prstGeom prst="roundRect">
            <a:avLst>
              <a:gd name="adj" fmla="val 33333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1197864"/>
            <a:ext cx="2075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0" y="1572768"/>
            <a:ext cx="207568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Interactive, Plan, and Autopilot sessions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6126480" y="105156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E4E6"/>
          </a:solidFill>
          <a:ln w="12700">
            <a:solidFill>
              <a:srgbClr val="DDD7E6"/>
            </a:solidFill>
            <a:prstDash val="solid"/>
          </a:ln>
          <a:effectLst>
            <a:outerShdw blurRad="25400" dist="12700" dir="2700000" algn="bl" rotWithShape="0">
              <a:srgbClr val="6D5D8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91072" y="1207008"/>
            <a:ext cx="109728" cy="923544"/>
          </a:xfrm>
          <a:prstGeom prst="roundRect">
            <a:avLst>
              <a:gd name="adj" fmla="val 33333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10528" y="1197864"/>
            <a:ext cx="2075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GitHub workflow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10528" y="1572768"/>
            <a:ext cx="207568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Issues, pull requests, checks, review, and merge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411480" y="2542032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E0F2FE"/>
          </a:solidFill>
          <a:ln w="12700">
            <a:solidFill>
              <a:srgbClr val="DDD7E6"/>
            </a:solidFill>
            <a:prstDash val="solid"/>
          </a:ln>
          <a:effectLst>
            <a:outerShdw blurRad="25400" dist="12700" dir="2700000" algn="bl" rotWithShape="0">
              <a:srgbClr val="6D5D8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76072" y="2697480"/>
            <a:ext cx="109728" cy="923544"/>
          </a:xfrm>
          <a:prstGeom prst="roundRect">
            <a:avLst>
              <a:gd name="adj" fmla="val 33333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5528" y="2688336"/>
            <a:ext cx="2075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Customization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95528" y="3063240"/>
            <a:ext cx="207568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Instructions, agents, skills, MCP, plugins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3273552" y="2542032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EF3C7"/>
          </a:solidFill>
          <a:ln w="12700">
            <a:solidFill>
              <a:srgbClr val="DDD7E6"/>
            </a:solidFill>
            <a:prstDash val="solid"/>
          </a:ln>
          <a:effectLst>
            <a:outerShdw blurRad="25400" dist="12700" dir="2700000" algn="bl" rotWithShape="0">
              <a:srgbClr val="6D5D8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438144" y="2697480"/>
            <a:ext cx="109728" cy="923544"/>
          </a:xfrm>
          <a:prstGeom prst="roundRect">
            <a:avLst>
              <a:gd name="adj" fmla="val 33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0" y="2688336"/>
            <a:ext cx="2075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Session intelligence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657600" y="3063240"/>
            <a:ext cx="207568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chats, Chronicle, automations</a:t>
            </a:r>
            <a:endParaRPr lang="en-US" sz="1120" dirty="0"/>
          </a:p>
        </p:txBody>
      </p:sp>
      <p:sp>
        <p:nvSpPr>
          <p:cNvPr id="30" name="Shape 28"/>
          <p:cNvSpPr/>
          <p:nvPr/>
        </p:nvSpPr>
        <p:spPr>
          <a:xfrm>
            <a:off x="6126480" y="2542032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EDE9FE"/>
          </a:solidFill>
          <a:ln w="12700">
            <a:solidFill>
              <a:srgbClr val="DDD7E6"/>
            </a:solidFill>
            <a:prstDash val="solid"/>
          </a:ln>
          <a:effectLst>
            <a:outerShdw blurRad="25400" dist="12700" dir="2700000" algn="bl" rotWithShape="0">
              <a:srgbClr val="6D5D8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91072" y="2697480"/>
            <a:ext cx="109728" cy="923544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10528" y="2688336"/>
            <a:ext cx="2075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Rich UI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510528" y="3063240"/>
            <a:ext cx="207568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Canvas extensions and model/provider selection</a:t>
            </a:r>
            <a:endParaRPr lang="en-US" sz="1120" dirty="0"/>
          </a:p>
        </p:txBody>
      </p:sp>
      <p:sp>
        <p:nvSpPr>
          <p:cNvPr id="34" name="Text 32"/>
          <p:cNvSpPr/>
          <p:nvPr/>
        </p:nvSpPr>
        <p:spPr>
          <a:xfrm>
            <a:off x="5806440" y="476402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30" u="sng" dirty="0">
                <a:solidFill>
                  <a:srgbClr val="7C3AED"/>
                </a:solidFill>
                <a:uFill>
                  <a:solidFill>
                    <a:srgbClr val="7C3AED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Copilot app overview</a:t>
            </a:r>
            <a:endParaRPr lang="en-US" sz="83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rgbClr val="5E566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256032"/>
            <a:ext cx="530352" cy="384048"/>
          </a:xfrm>
          <a:prstGeom prst="roundRect">
            <a:avLst>
              <a:gd name="adj" fmla="val 1904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10896" y="256032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87552" y="201168"/>
            <a:ext cx="6812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App, CLI, and Cloud Agent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05840" y="65836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ecosystem, different execution environments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936992" y="164592"/>
            <a:ext cx="749808" cy="749808"/>
          </a:xfrm>
          <a:prstGeom prst="ellipse">
            <a:avLst/>
          </a:prstGeom>
          <a:solidFill>
            <a:srgbClr val="EDE9FE">
              <a:alpha val="30000"/>
            </a:srgbClr>
          </a:solidFill>
          <a:ln w="17780">
            <a:solidFill>
              <a:srgbClr val="D8CFF0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39328" y="475488"/>
            <a:ext cx="201168" cy="2011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91856" y="228600"/>
            <a:ext cx="109728" cy="109728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477316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Copilot Advanced Workshop  |  July 2026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411480" y="1115568"/>
            <a:ext cx="2633472" cy="2121408"/>
          </a:xfrm>
          <a:prstGeom prst="roundRect">
            <a:avLst>
              <a:gd name="adj" fmla="val 3448"/>
            </a:avLst>
          </a:prstGeom>
          <a:solidFill>
            <a:srgbClr val="FFE4E6"/>
          </a:solidFill>
          <a:ln w="12700">
            <a:solidFill>
              <a:srgbClr val="DDD7E6"/>
            </a:solidFill>
            <a:prstDash val="solid"/>
          </a:ln>
          <a:effectLst>
            <a:outerShdw blurRad="25400" dist="12700" dir="2700000" algn="bl" rotWithShape="0">
              <a:srgbClr val="6D5D8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76072" y="1271016"/>
            <a:ext cx="109728" cy="1810512"/>
          </a:xfrm>
          <a:prstGeom prst="roundRect">
            <a:avLst>
              <a:gd name="adj" fmla="val 33333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126187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Copilot CLI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95528" y="1636776"/>
            <a:ext cx="210312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Terminal-first local work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for scripting, shell tools, and direct orchestration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3255264" y="1115568"/>
            <a:ext cx="2633472" cy="2121408"/>
          </a:xfrm>
          <a:prstGeom prst="roundRect">
            <a:avLst>
              <a:gd name="adj" fmla="val 3448"/>
            </a:avLst>
          </a:prstGeom>
          <a:solidFill>
            <a:srgbClr val="EDE9FE"/>
          </a:solidFill>
          <a:ln w="12700">
            <a:solidFill>
              <a:srgbClr val="DDD7E6"/>
            </a:solidFill>
            <a:prstDash val="solid"/>
          </a:ln>
          <a:effectLst>
            <a:outerShdw blurRad="25400" dist="12700" dir="2700000" algn="bl" rotWithShape="0">
              <a:srgbClr val="6D5D8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19856" y="1271016"/>
            <a:ext cx="109728" cy="1810512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9312" y="126187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Copilot app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39312" y="1636776"/>
            <a:ext cx="210312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local workspace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for parallel worktrees, sessions, PR review, and canvases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6099048" y="1115568"/>
            <a:ext cx="2633472" cy="2121408"/>
          </a:xfrm>
          <a:prstGeom prst="roundRect">
            <a:avLst>
              <a:gd name="adj" fmla="val 3448"/>
            </a:avLst>
          </a:prstGeom>
          <a:solidFill>
            <a:srgbClr val="CCFBF1"/>
          </a:solidFill>
          <a:ln w="12700">
            <a:solidFill>
              <a:srgbClr val="DDD7E6"/>
            </a:solidFill>
            <a:prstDash val="solid"/>
          </a:ln>
          <a:effectLst>
            <a:outerShdw blurRad="25400" dist="12700" dir="2700000" algn="bl" rotWithShape="0">
              <a:srgbClr val="6D5D8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63640" y="1271016"/>
            <a:ext cx="109728" cy="1810512"/>
          </a:xfrm>
          <a:prstGeom prst="roundRect">
            <a:avLst>
              <a:gd name="adj" fmla="val 33333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83096" y="126187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Cloud Agent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83096" y="1636776"/>
            <a:ext cx="210312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Hosted asynchronous work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for branch-first research or issue-to-PR delivery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1097280" y="3584448"/>
            <a:ext cx="6949440" cy="475488"/>
          </a:xfrm>
          <a:prstGeom prst="round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F59E0B">
                <a:alpha val="4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34440" y="3712464"/>
            <a:ext cx="6675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A59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sandboxes in the app are public preview. Use local worktrees for the stable workshop path.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rgbClr val="5E566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1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594360"/>
            <a:ext cx="1554480" cy="1554480"/>
          </a:xfrm>
          <a:prstGeom prst="ellipse">
            <a:avLst/>
          </a:prstGeom>
          <a:solidFill>
            <a:srgbClr val="24143A"/>
          </a:solidFill>
          <a:ln w="17780">
            <a:solidFill>
              <a:srgbClr val="5137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658368"/>
            <a:ext cx="402336" cy="40233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56832" y="2011680"/>
            <a:ext cx="228600" cy="22860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0" y="59436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EA5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58368" y="1417320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Models and context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685800" y="260604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dirty="0">
                <a:solidFill>
                  <a:srgbClr val="D0CA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selection, task fit, and high-signal context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685800" y="3858768"/>
            <a:ext cx="2788920" cy="475488"/>
          </a:xfrm>
          <a:prstGeom prst="roundRect">
            <a:avLst>
              <a:gd name="adj" fmla="val 15385"/>
            </a:avLst>
          </a:prstGeom>
          <a:solidFill>
            <a:srgbClr val="24143A"/>
          </a:solidFill>
          <a:ln w="12700">
            <a:solidFill>
              <a:srgbClr val="5137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858768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Repository module 08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" y="477316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D0CA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Copilot Advanced Workshop  |  July 2026</a:t>
            </a:r>
            <a:endParaRPr lang="en-US" sz="92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256032"/>
            <a:ext cx="530352" cy="384048"/>
          </a:xfrm>
          <a:prstGeom prst="roundRect">
            <a:avLst>
              <a:gd name="adj" fmla="val 1904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10896" y="256032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87552" y="201168"/>
            <a:ext cx="6812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Choose by task, not a static ranking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05840" y="65836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Availability, pricing, and model versions change too quickly for a frozen table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936992" y="164592"/>
            <a:ext cx="749808" cy="749808"/>
          </a:xfrm>
          <a:prstGeom prst="ellipse">
            <a:avLst/>
          </a:prstGeom>
          <a:solidFill>
            <a:srgbClr val="EDE9FE">
              <a:alpha val="30000"/>
            </a:srgbClr>
          </a:solidFill>
          <a:ln w="17780">
            <a:solidFill>
              <a:srgbClr val="D8CFF0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39328" y="475488"/>
            <a:ext cx="201168" cy="2011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91856" y="228600"/>
            <a:ext cx="109728" cy="109728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477316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Copilot Advanced Workshop  |  July 2026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411480" y="1051560"/>
            <a:ext cx="2606040" cy="1207008"/>
          </a:xfrm>
          <a:prstGeom prst="roundRect">
            <a:avLst>
              <a:gd name="adj" fmla="val 6061"/>
            </a:avLst>
          </a:prstGeom>
          <a:solidFill>
            <a:srgbClr val="CCFBF1"/>
          </a:solidFill>
          <a:ln w="12700">
            <a:solidFill>
              <a:srgbClr val="DDD7E6"/>
            </a:solidFill>
            <a:prstDash val="solid"/>
          </a:ln>
          <a:effectLst>
            <a:outerShdw blurRad="25400" dist="12700" dir="2700000" algn="bl" rotWithShape="0">
              <a:srgbClr val="6D5D8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76072" y="1207008"/>
            <a:ext cx="109728" cy="896112"/>
          </a:xfrm>
          <a:prstGeom prst="roundRect">
            <a:avLst>
              <a:gd name="adj" fmla="val 33333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1197864"/>
            <a:ext cx="2075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Routine edits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95528" y="1572768"/>
            <a:ext cx="2075688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the default or a fast general-purpose model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3273552" y="1051560"/>
            <a:ext cx="2606040" cy="1207008"/>
          </a:xfrm>
          <a:prstGeom prst="roundRect">
            <a:avLst>
              <a:gd name="adj" fmla="val 6061"/>
            </a:avLst>
          </a:prstGeom>
          <a:solidFill>
            <a:srgbClr val="EDE9FE"/>
          </a:solidFill>
          <a:ln w="12700">
            <a:solidFill>
              <a:srgbClr val="DDD7E6"/>
            </a:solidFill>
            <a:prstDash val="solid"/>
          </a:ln>
          <a:effectLst>
            <a:outerShdw blurRad="25400" dist="12700" dir="2700000" algn="bl" rotWithShape="0">
              <a:srgbClr val="6D5D8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38144" y="1207008"/>
            <a:ext cx="109728" cy="896112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1197864"/>
            <a:ext cx="2075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Complex implementation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0" y="1572768"/>
            <a:ext cx="2075688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 balanced coding and reasoning model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6126480" y="1051560"/>
            <a:ext cx="2606040" cy="1207008"/>
          </a:xfrm>
          <a:prstGeom prst="roundRect">
            <a:avLst>
              <a:gd name="adj" fmla="val 6061"/>
            </a:avLst>
          </a:prstGeom>
          <a:solidFill>
            <a:srgbClr val="FFE4E6"/>
          </a:solidFill>
          <a:ln w="12700">
            <a:solidFill>
              <a:srgbClr val="DDD7E6"/>
            </a:solidFill>
            <a:prstDash val="solid"/>
          </a:ln>
          <a:effectLst>
            <a:outerShdw blurRad="25400" dist="12700" dir="2700000" algn="bl" rotWithShape="0">
              <a:srgbClr val="6D5D8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91072" y="1207008"/>
            <a:ext cx="109728" cy="896112"/>
          </a:xfrm>
          <a:prstGeom prst="roundRect">
            <a:avLst>
              <a:gd name="adj" fmla="val 33333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10528" y="1197864"/>
            <a:ext cx="2075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and review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10528" y="1572768"/>
            <a:ext cx="2075688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Escalate to deeper reasoning and independent critique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475488" y="257860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High-signal context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02920" y="2907792"/>
            <a:ext cx="365760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Acceptance criteria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Relevant files and errors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and test commands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Stable repository instructions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policy and constraints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17720" y="257860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3F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Avoid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617720" y="2907792"/>
            <a:ext cx="397764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Attaching whole folders just in case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Old conversation branches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Static model rankings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Copied documentation the agent can search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806440" y="476402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30" u="sng" dirty="0">
                <a:solidFill>
                  <a:srgbClr val="7C3AED"/>
                </a:solidFill>
                <a:uFill>
                  <a:solidFill>
                    <a:srgbClr val="7C3AED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Supported models</a:t>
            </a:r>
            <a:endParaRPr lang="en-US" sz="83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rgbClr val="5E566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1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594360"/>
            <a:ext cx="1554480" cy="1554480"/>
          </a:xfrm>
          <a:prstGeom prst="ellipse">
            <a:avLst/>
          </a:prstGeom>
          <a:solidFill>
            <a:srgbClr val="24143A"/>
          </a:solidFill>
          <a:ln w="17780">
            <a:solidFill>
              <a:srgbClr val="5137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658368"/>
            <a:ext cx="402336" cy="40233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56832" y="2011680"/>
            <a:ext cx="228600" cy="22860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0" y="59436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43F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58368" y="1417320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Cloud Agent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685800" y="260604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dirty="0">
                <a:solidFill>
                  <a:srgbClr val="D0CA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GitHub-hosted research, planning, implementation, and review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685800" y="3858768"/>
            <a:ext cx="2788920" cy="475488"/>
          </a:xfrm>
          <a:prstGeom prst="roundRect">
            <a:avLst>
              <a:gd name="adj" fmla="val 15385"/>
            </a:avLst>
          </a:prstGeom>
          <a:solidFill>
            <a:srgbClr val="24143A"/>
          </a:solidFill>
          <a:ln w="12700">
            <a:solidFill>
              <a:srgbClr val="5137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858768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Repository module 09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" y="477316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D0CA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Copilot Advanced Workshop  |  July 2026</a:t>
            </a:r>
            <a:endParaRPr lang="en-US" sz="92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256032"/>
            <a:ext cx="530352" cy="384048"/>
          </a:xfrm>
          <a:prstGeom prst="roundRect">
            <a:avLst>
              <a:gd name="adj" fmla="val 1904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10896" y="256032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87552" y="201168"/>
            <a:ext cx="6812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Cloud-agent workflow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05840" y="65836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former Copilot coding agent is now Cloud Agent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936992" y="164592"/>
            <a:ext cx="749808" cy="749808"/>
          </a:xfrm>
          <a:prstGeom prst="ellipse">
            <a:avLst/>
          </a:prstGeom>
          <a:solidFill>
            <a:srgbClr val="EDE9FE">
              <a:alpha val="30000"/>
            </a:srgbClr>
          </a:solidFill>
          <a:ln w="17780">
            <a:solidFill>
              <a:srgbClr val="D8CFF0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39328" y="475488"/>
            <a:ext cx="201168" cy="2011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91856" y="228600"/>
            <a:ext cx="109728" cy="109728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477316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Copilot Advanced Workshop  |  July 2026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502920" y="1143000"/>
            <a:ext cx="1408176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DDD7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1234440"/>
            <a:ext cx="126187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session or issue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911096" y="1362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3F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&gt;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185416" y="1143000"/>
            <a:ext cx="1408176" cy="749808"/>
          </a:xfrm>
          <a:prstGeom prst="roundRect">
            <a:avLst>
              <a:gd name="adj" fmla="val 9756"/>
            </a:avLst>
          </a:prstGeom>
          <a:solidFill>
            <a:srgbClr val="EDE9FE"/>
          </a:solidFill>
          <a:ln w="13970">
            <a:solidFill>
              <a:srgbClr val="DDD7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58568" y="1234440"/>
            <a:ext cx="126187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and plan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593592" y="1362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3F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&gt;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867912" y="1143000"/>
            <a:ext cx="1408176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DDD7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41064" y="1234440"/>
            <a:ext cx="126187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branch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276088" y="1362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3F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&gt;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550408" y="1143000"/>
            <a:ext cx="1408176" cy="749808"/>
          </a:xfrm>
          <a:prstGeom prst="roundRect">
            <a:avLst>
              <a:gd name="adj" fmla="val 9756"/>
            </a:avLst>
          </a:prstGeom>
          <a:solidFill>
            <a:srgbClr val="EDE9FE"/>
          </a:solidFill>
          <a:ln w="13970">
            <a:solidFill>
              <a:srgbClr val="DDD7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23560" y="1234440"/>
            <a:ext cx="126187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validation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958584" y="1362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3F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&gt;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232904" y="1143000"/>
            <a:ext cx="1408176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14B8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06056" y="1234440"/>
            <a:ext cx="126187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or create PR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2267712"/>
            <a:ext cx="3886200" cy="1508760"/>
          </a:xfrm>
          <a:prstGeom prst="roundRect">
            <a:avLst>
              <a:gd name="adj" fmla="val 4848"/>
            </a:avLst>
          </a:prstGeom>
          <a:solidFill>
            <a:srgbClr val="EDE9FE"/>
          </a:solidFill>
          <a:ln w="12700">
            <a:solidFill>
              <a:srgbClr val="DDD7E6"/>
            </a:solidFill>
            <a:prstDash val="solid"/>
          </a:ln>
          <a:effectLst>
            <a:outerShdw blurRad="25400" dist="12700" dir="2700000" algn="bl" rotWithShape="0">
              <a:srgbClr val="6D5D8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67512" y="2423160"/>
            <a:ext cx="109728" cy="1197864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6968" y="2414016"/>
            <a:ext cx="3355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Branch-first paths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86968" y="2788920"/>
            <a:ext cx="3355848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or Copilot interface sessions can stay on a branch while you steer and review.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Create pull request when ready.</a:t>
            </a:r>
            <a:endParaRPr lang="en-US" sz="1120" dirty="0"/>
          </a:p>
        </p:txBody>
      </p:sp>
      <p:sp>
        <p:nvSpPr>
          <p:cNvPr id="28" name="Shape 26"/>
          <p:cNvSpPr/>
          <p:nvPr/>
        </p:nvSpPr>
        <p:spPr>
          <a:xfrm>
            <a:off x="4754880" y="2267712"/>
            <a:ext cx="3886200" cy="1508760"/>
          </a:xfrm>
          <a:prstGeom prst="roundRect">
            <a:avLst>
              <a:gd name="adj" fmla="val 4848"/>
            </a:avLst>
          </a:prstGeom>
          <a:solidFill>
            <a:srgbClr val="CCFBF1"/>
          </a:solidFill>
          <a:ln w="12700">
            <a:solidFill>
              <a:srgbClr val="DDD7E6"/>
            </a:solidFill>
            <a:prstDash val="solid"/>
          </a:ln>
          <a:effectLst>
            <a:outerShdw blurRad="25400" dist="12700" dir="2700000" algn="bl" rotWithShape="0">
              <a:srgbClr val="6D5D8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919472" y="2423160"/>
            <a:ext cx="109728" cy="1197864"/>
          </a:xfrm>
          <a:prstGeom prst="roundRect">
            <a:avLst>
              <a:gd name="adj" fmla="val 33333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38928" y="2414016"/>
            <a:ext cx="3355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Pull-request paths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138928" y="2788920"/>
            <a:ext cx="3355848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 assignment always creates a PR.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Explicit PR requests, @copilot on an existing PR, and CLI delegation also produce PR workflows.</a:t>
            </a:r>
            <a:endParaRPr lang="en-US" sz="1120" dirty="0"/>
          </a:p>
        </p:txBody>
      </p:sp>
      <p:sp>
        <p:nvSpPr>
          <p:cNvPr id="32" name="Text 30"/>
          <p:cNvSpPr/>
          <p:nvPr/>
        </p:nvSpPr>
        <p:spPr>
          <a:xfrm>
            <a:off x="5806440" y="476402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30" u="sng" dirty="0">
                <a:solidFill>
                  <a:srgbClr val="7C3AED"/>
                </a:solidFill>
                <a:uFill>
                  <a:solidFill>
                    <a:srgbClr val="7C3AED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Cloud Agent overview</a:t>
            </a:r>
            <a:endParaRPr lang="en-US" sz="83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rgbClr val="5E566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256032"/>
            <a:ext cx="530352" cy="384048"/>
          </a:xfrm>
          <a:prstGeom prst="roundRect">
            <a:avLst>
              <a:gd name="adj" fmla="val 1904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10896" y="256032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87552" y="201168"/>
            <a:ext cx="6812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GitHub.com features to teach now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05840" y="65836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Agent sits inside a broader context and quality ecosystem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936992" y="164592"/>
            <a:ext cx="749808" cy="749808"/>
          </a:xfrm>
          <a:prstGeom prst="ellipse">
            <a:avLst/>
          </a:prstGeom>
          <a:solidFill>
            <a:srgbClr val="EDE9FE">
              <a:alpha val="30000"/>
            </a:srgbClr>
          </a:solidFill>
          <a:ln w="17780">
            <a:solidFill>
              <a:srgbClr val="D8CFF0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39328" y="475488"/>
            <a:ext cx="201168" cy="2011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91856" y="228600"/>
            <a:ext cx="109728" cy="109728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477316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Copilot Advanced Workshop  |  July 2026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411480" y="1024128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EDE9FE"/>
          </a:solidFill>
          <a:ln w="12700">
            <a:solidFill>
              <a:srgbClr val="DDD7E6"/>
            </a:solidFill>
            <a:prstDash val="solid"/>
          </a:ln>
          <a:effectLst>
            <a:outerShdw blurRad="25400" dist="12700" dir="2700000" algn="bl" rotWithShape="0">
              <a:srgbClr val="6D5D8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76072" y="1179576"/>
            <a:ext cx="109728" cy="923544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1170432"/>
            <a:ext cx="2075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Custom agents and MCP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95528" y="1545336"/>
            <a:ext cx="207568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Repository, organization, enterprise, and user agents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Allowlist trusted cloud MCP tools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3273552" y="1024128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CCFBF1"/>
          </a:solidFill>
          <a:ln w="12700">
            <a:solidFill>
              <a:srgbClr val="DDD7E6"/>
            </a:solidFill>
            <a:prstDash val="solid"/>
          </a:ln>
          <a:effectLst>
            <a:outerShdw blurRad="25400" dist="12700" dir="2700000" algn="bl" rotWithShape="0">
              <a:srgbClr val="6D5D8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38144" y="1179576"/>
            <a:ext cx="109728" cy="923544"/>
          </a:xfrm>
          <a:prstGeom prst="roundRect">
            <a:avLst>
              <a:gd name="adj" fmla="val 33333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1170432"/>
            <a:ext cx="2075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Copilot Spaces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0" y="1545336"/>
            <a:ext cx="207568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 curated context from repositories, files, issues, PRs, and instructions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6126480" y="1024128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E0F2FE"/>
          </a:solidFill>
          <a:ln w="12700">
            <a:solidFill>
              <a:srgbClr val="DDD7E6"/>
            </a:solidFill>
            <a:prstDash val="solid"/>
          </a:ln>
          <a:effectLst>
            <a:outerShdw blurRad="25400" dist="12700" dir="2700000" algn="bl" rotWithShape="0">
              <a:srgbClr val="6D5D8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91072" y="1179576"/>
            <a:ext cx="109728" cy="923544"/>
          </a:xfrm>
          <a:prstGeom prst="roundRect">
            <a:avLst>
              <a:gd name="adj" fmla="val 33333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10528" y="1170432"/>
            <a:ext cx="2075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Code review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10528" y="1545336"/>
            <a:ext cx="207568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 non-blocking review comments with human validation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411480" y="2542032"/>
            <a:ext cx="3931920" cy="1261872"/>
          </a:xfrm>
          <a:prstGeom prst="roundRect">
            <a:avLst>
              <a:gd name="adj" fmla="val 5797"/>
            </a:avLst>
          </a:prstGeom>
          <a:solidFill>
            <a:srgbClr val="FFE4E6"/>
          </a:solidFill>
          <a:ln w="12700">
            <a:solidFill>
              <a:srgbClr val="DDD7E6"/>
            </a:solidFill>
            <a:prstDash val="solid"/>
          </a:ln>
          <a:effectLst>
            <a:outerShdw blurRad="25400" dist="12700" dir="2700000" algn="bl" rotWithShape="0">
              <a:srgbClr val="6D5D8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76072" y="2697480"/>
            <a:ext cx="109728" cy="950976"/>
          </a:xfrm>
          <a:prstGeom prst="roundRect">
            <a:avLst>
              <a:gd name="adj" fmla="val 33333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5528" y="2688336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Latest review controls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95528" y="3054096"/>
            <a:ext cx="3401568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AGENTS.md, REVIEW.md, CLAUDE.md, GEMINI.md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Head-branch instructions and skills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Workflow, firewall, and runner configuration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17720" y="2542032"/>
            <a:ext cx="4114800" cy="1261872"/>
          </a:xfrm>
          <a:prstGeom prst="roundRect">
            <a:avLst>
              <a:gd name="adj" fmla="val 5797"/>
            </a:avLst>
          </a:prstGeom>
          <a:solidFill>
            <a:srgbClr val="FEF3C7"/>
          </a:solidFill>
          <a:ln w="12700">
            <a:solidFill>
              <a:srgbClr val="DDD7E6"/>
            </a:solidFill>
            <a:prstDash val="solid"/>
          </a:ln>
          <a:effectLst>
            <a:outerShdw blurRad="25400" dist="12700" dir="2700000" algn="bl" rotWithShape="0">
              <a:srgbClr val="6D5D8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82312" y="2697480"/>
            <a:ext cx="109728" cy="950976"/>
          </a:xfrm>
          <a:prstGeom prst="roundRect">
            <a:avLst>
              <a:gd name="adj" fmla="val 33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01768" y="2688336"/>
            <a:ext cx="3584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Still preview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001768" y="3054096"/>
            <a:ext cx="3584448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 review effort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 suggestions to Cloud Agent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Selected skills and MCP in code review</a:t>
            </a:r>
            <a:endParaRPr lang="en-US" sz="11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rgbClr val="5E566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1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594360"/>
            <a:ext cx="1554480" cy="1554480"/>
          </a:xfrm>
          <a:prstGeom prst="ellipse">
            <a:avLst/>
          </a:prstGeom>
          <a:solidFill>
            <a:srgbClr val="24143A"/>
          </a:solidFill>
          <a:ln w="17780">
            <a:solidFill>
              <a:srgbClr val="5137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658368"/>
            <a:ext cx="402336" cy="40233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56832" y="2011680"/>
            <a:ext cx="228600" cy="22860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0" y="59436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58368" y="1417320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Hands-on lab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685800" y="260604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dirty="0">
                <a:solidFill>
                  <a:srgbClr val="D0CA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 exercises plus a simple Node.js demonstration app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685800" y="3858768"/>
            <a:ext cx="2788920" cy="475488"/>
          </a:xfrm>
          <a:prstGeom prst="roundRect">
            <a:avLst>
              <a:gd name="adj" fmla="val 15385"/>
            </a:avLst>
          </a:prstGeom>
          <a:solidFill>
            <a:srgbClr val="24143A"/>
          </a:solidFill>
          <a:ln w="12700">
            <a:solidFill>
              <a:srgbClr val="5137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858768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Repository module 10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" y="477316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D0CA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Copilot Advanced Workshop  |  July 2026</a:t>
            </a:r>
            <a:endParaRPr lang="en-US" sz="92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256032"/>
            <a:ext cx="530352" cy="384048"/>
          </a:xfrm>
          <a:prstGeom prst="roundRect">
            <a:avLst>
              <a:gd name="adj" fmla="val 1904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10896" y="256032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87552" y="201168"/>
            <a:ext cx="6812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 flow and demo application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05840" y="65836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synthetic data and disposable branches for write exercises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936992" y="164592"/>
            <a:ext cx="749808" cy="749808"/>
          </a:xfrm>
          <a:prstGeom prst="ellipse">
            <a:avLst/>
          </a:prstGeom>
          <a:solidFill>
            <a:srgbClr val="EDE9FE">
              <a:alpha val="30000"/>
            </a:srgbClr>
          </a:solidFill>
          <a:ln w="17780">
            <a:solidFill>
              <a:srgbClr val="D8CFF0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39328" y="475488"/>
            <a:ext cx="201168" cy="2011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91856" y="228600"/>
            <a:ext cx="109728" cy="109728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477316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Copilot Advanced Workshop  |  July 2026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411480" y="960120"/>
            <a:ext cx="502920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DD7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042416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104241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Customization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423160" y="10515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Instructions, prompt, agent, skill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1618488"/>
            <a:ext cx="502920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DD7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1700784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51560" y="1700784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Cloud Agent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423160" y="170992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Issue, hosted session, PR review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2276856"/>
            <a:ext cx="502920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DD7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2359152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51560" y="2359152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MCP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423160" y="2368296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read tools and Playwright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" y="2935224"/>
            <a:ext cx="502920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DD7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3017520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51560" y="301752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Modernization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2423160" y="302666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Analyze, plan, preserve behavior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" y="3593592"/>
            <a:ext cx="502920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DD7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3675888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51560" y="367588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Testing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2423160" y="368503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xUnit, Playwright, accessibility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715000" y="960120"/>
            <a:ext cx="3017520" cy="2852928"/>
          </a:xfrm>
          <a:prstGeom prst="roundRect">
            <a:avLst>
              <a:gd name="adj" fmla="val 2564"/>
            </a:avLst>
          </a:prstGeom>
          <a:solidFill>
            <a:srgbClr val="CCFBF1"/>
          </a:solidFill>
          <a:ln w="12700">
            <a:solidFill>
              <a:srgbClr val="DDD7E6"/>
            </a:solidFill>
            <a:prstDash val="solid"/>
          </a:ln>
          <a:effectLst>
            <a:outerShdw blurRad="25400" dist="12700" dir="2700000" algn="bl" rotWithShape="0">
              <a:srgbClr val="6D5D8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879592" y="1115568"/>
            <a:ext cx="109728" cy="2542032"/>
          </a:xfrm>
          <a:prstGeom prst="roundRect">
            <a:avLst>
              <a:gd name="adj" fmla="val 33333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99048" y="1106424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demo-nodejs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99048" y="1472184"/>
            <a:ext cx="2487168" cy="22311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Dependency-free task board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Built-in HTTP server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Single-page UI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 test runner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external service setup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E56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 for local and cloud demos</a:t>
            </a:r>
            <a:endParaRPr lang="en-US" sz="11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rgbClr val="5E566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1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56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804672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the habit, not the screenshot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13232" y="1664208"/>
            <a:ext cx="6720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0CA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live help and documentation for version-sensitive details. Keep repository instructions stable, permissions narrow, and human review explicit.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285292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 CLI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901952" y="2852928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CA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docs.github.com/copilot/how-tos/use-copilot-agents/use-copilot-cli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 app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901952" y="3246120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CA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docs.github.com/en/copilot/concepts/agents/github-copilot-app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363931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Agent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901952" y="363931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CA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docs.github.com/en/copilot/concepts/agents/cloud-agent/about-cloud-agent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31520" y="4032504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matrix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901952" y="4032504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CA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docs.github.com/en/copilot/reference/copilot-feature-matrix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31520" y="4407408"/>
            <a:ext cx="7406640" cy="347472"/>
          </a:xfrm>
          <a:prstGeom prst="roundRect">
            <a:avLst>
              <a:gd name="adj" fmla="val 21053"/>
            </a:avLst>
          </a:prstGeom>
          <a:solidFill>
            <a:srgbClr val="24143A"/>
          </a:solidFill>
          <a:ln w="12700">
            <a:solidFill>
              <a:srgbClr val="5137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407408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CUSTOMIZE  &gt;  ORCHESTRATE  &gt;  VALIDATE  &gt;  REVIEW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936992" y="164592"/>
            <a:ext cx="749808" cy="749808"/>
          </a:xfrm>
          <a:prstGeom prst="ellipse">
            <a:avLst/>
          </a:prstGeom>
          <a:solidFill>
            <a:srgbClr val="24143A">
              <a:alpha val="30000"/>
            </a:srgbClr>
          </a:solidFill>
          <a:ln w="17780">
            <a:solidFill>
              <a:srgbClr val="5B4772">
                <a:alpha val="7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39328" y="475488"/>
            <a:ext cx="201168" cy="2011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91856" y="228600"/>
            <a:ext cx="109728" cy="109728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477316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D0CA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Copilot Advanced Workshop  |  July 2026</a:t>
            </a:r>
            <a:endParaRPr lang="en-US" sz="9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2076</Words>
  <Application>Microsoft Office PowerPoint</Application>
  <PresentationFormat>On-screen Show (16:9)</PresentationFormat>
  <Paragraphs>507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Aptos</vt:lpstr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Workshop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Copilot Advanced Workshop</dc:title>
  <dc:subject>Advanced GitHub Copilot workshop</dc:subject>
  <dc:creator>GitHub Copilot Advanced Workshop</dc:creator>
  <cp:lastModifiedBy>Hammad Aslam</cp:lastModifiedBy>
  <cp:revision>1</cp:revision>
  <dcterms:created xsi:type="dcterms:W3CDTF">2026-07-23T00:48:53Z</dcterms:created>
  <dcterms:modified xsi:type="dcterms:W3CDTF">2026-07-23T00:48:57Z</dcterms:modified>
</cp:coreProperties>
</file>